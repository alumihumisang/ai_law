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1909" r:id="rId2"/>
    <p:sldId id="1912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莉庭 魯" initials="莉庭" lastIdx="1" clrIdx="0">
    <p:extLst>
      <p:ext uri="{19B8F6BF-5375-455C-9EA6-DF929625EA0E}">
        <p15:presenceInfo xmlns:p15="http://schemas.microsoft.com/office/powerpoint/2012/main" userId="737bd0dbea5445e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D7EE"/>
    <a:srgbClr val="6B6DC3"/>
    <a:srgbClr val="ECF6FE"/>
    <a:srgbClr val="FAEFEA"/>
    <a:srgbClr val="F0D0C2"/>
    <a:srgbClr val="A6D9FF"/>
    <a:srgbClr val="515151"/>
    <a:srgbClr val="FFCC66"/>
    <a:srgbClr val="FFEDC9"/>
    <a:srgbClr val="6264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中等深淺樣式 3 - 輔色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中等深淺樣式 3 - 輔色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中等深淺樣式 3 - 輔色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4C1A8A3-306A-4EB7-A6B1-4F7E0EB9C5D6}" styleName="中等深淺樣式 3 - 輔色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8A107856-5554-42FB-B03E-39F5DBC370BA}" styleName="中等深淺樣式 4 - 輔色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ED083AE6-46FA-4A59-8FB0-9F97EB10719F}" styleName="淺色樣式 3 - 輔色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淺色樣式 2 - 輔色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淺色樣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35758FB7-9AC5-4552-8A53-C91805E547FA}" styleName="佈景主題樣式 1 - 輔色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68D230F3-CF80-4859-8CE7-A43EE81993B5}" styleName="淺色樣式 1 - 輔色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淺色樣式 1 - 輔色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505E3EF-67EA-436B-97B2-0124C06EBD24}" styleName="中等深淺樣式 4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8FB837D-C827-4EFA-A057-4D05807E0F7C}" styleName="佈景主題樣式 1 - 輔色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E269D01E-BC32-4049-B463-5C60D7B0CCD2}" styleName="佈景主題樣式 2 - 輔色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佈景主題樣式 2 - 輔色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佈景主題樣式 2 - 輔色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佈景主題樣式 2 - 輔色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CAF9ED-07DC-4A11-8D7F-57B35C25682E}" styleName="中等深淺樣式 1 - 輔色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2838BEF-8BB2-4498-84A7-C5851F593DF1}" styleName="中等深淺樣式 4 - 輔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19" autoAdjust="0"/>
    <p:restoredTop sz="93811" autoAdjust="0"/>
  </p:normalViewPr>
  <p:slideViewPr>
    <p:cSldViewPr snapToGrid="0">
      <p:cViewPr varScale="1">
        <p:scale>
          <a:sx n="66" d="100"/>
          <a:sy n="66" d="100"/>
        </p:scale>
        <p:origin x="67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79B74A-997B-4780-BE59-EFE3FFA36A4B}" type="datetimeFigureOut">
              <a:rPr lang="zh-TW" altLang="en-US" smtClean="0"/>
              <a:t>2026/3/10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ECE545-FBBF-427C-8148-A1ACB41E97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2131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FD0D19-D669-4E4B-91D1-BDC715DD36C9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5982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FD0D19-D669-4E4B-91D1-BDC715DD36C9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17564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ie.ntpu.edu.tw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ie.ntpu.edu.tw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a16:creationId xmlns:a16="http://schemas.microsoft.com/office/drawing/2014/main"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/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/>
          </a:p>
        </p:txBody>
      </p:sp>
      <p:pic>
        <p:nvPicPr>
          <p:cNvPr id="7" name="Picture 2" descr="http://www.csie.ntpu.edu.tw/../images/com_logo.png">
            <a:hlinkClick r:id="rId3"/>
            <a:extLst>
              <a:ext uri="{FF2B5EF4-FFF2-40B4-BE49-F238E27FC236}">
                <a16:creationId xmlns:a16="http://schemas.microsoft.com/office/drawing/2014/main" id="{D0820140-DB07-4D07-B368-B3793CA83A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24728" cy="5111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/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pic>
        <p:nvPicPr>
          <p:cNvPr id="8" name="Picture 13">
            <a:extLst>
              <a:ext uri="{FF2B5EF4-FFF2-40B4-BE49-F238E27FC236}">
                <a16:creationId xmlns:a16="http://schemas.microsoft.com/office/drawing/2014/main" id="{FC584363-FC33-4D49-8A59-4FE845139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213" y="6380073"/>
            <a:ext cx="1607476" cy="436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8">
            <a:extLst>
              <a:ext uri="{FF2B5EF4-FFF2-40B4-BE49-F238E27FC236}">
                <a16:creationId xmlns:a16="http://schemas.microsoft.com/office/drawing/2014/main" id="{8B435778-36B6-470A-939D-7E55FA14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smtClean="0">
                <a:latin typeface="+mn-lt"/>
              </a:rPr>
              <a:pPr>
                <a:defRPr/>
              </a:pPr>
              <a:t>‹#›</a:t>
            </a:fld>
            <a:endParaRPr lang="en-US" altLang="zh-TW" sz="1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75931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8">
            <a:extLst>
              <a:ext uri="{FF2B5EF4-FFF2-40B4-BE49-F238E27FC236}">
                <a16:creationId xmlns:a16="http://schemas.microsoft.com/office/drawing/2014/main" id="{46B19FCD-9041-49CE-B2A7-94FA6360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smtClean="0">
                <a:latin typeface="+mn-lt"/>
              </a:rPr>
              <a:pPr>
                <a:defRPr/>
              </a:pPr>
              <a:t>‹#›</a:t>
            </a:fld>
            <a:endParaRPr lang="en-US" altLang="zh-TW" sz="1400" dirty="0">
              <a:latin typeface="+mn-lt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43386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DA6B2D65-7BAF-43C7-B91E-A39E5D3D33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493407"/>
          </a:xfrm>
        </p:spPr>
        <p:txBody>
          <a:bodyPr anchor="t"/>
          <a:lstStyle>
            <a:lvl1pPr algn="l">
              <a:defRPr sz="2600" b="1" cap="all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83684" y="2906713"/>
            <a:ext cx="10395475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1EDF3CA7-0D5E-4815-9A06-C63810AA43C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5" name="Line 12">
            <a:extLst>
              <a:ext uri="{FF2B5EF4-FFF2-40B4-BE49-F238E27FC236}">
                <a16:creationId xmlns:a16="http://schemas.microsoft.com/office/drawing/2014/main" id="{36761D3C-A27C-42D7-BF5A-4B09483B2316}"/>
              </a:ext>
            </a:extLst>
          </p:cNvPr>
          <p:cNvSpPr>
            <a:spLocks noChangeShapeType="1"/>
          </p:cNvSpPr>
          <p:nvPr/>
        </p:nvSpPr>
        <p:spPr bwMode="auto">
          <a:xfrm>
            <a:off x="11079159" y="4406900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/>
          </a:p>
        </p:txBody>
      </p:sp>
      <p:sp>
        <p:nvSpPr>
          <p:cNvPr id="6" name="Line 13">
            <a:extLst>
              <a:ext uri="{FF2B5EF4-FFF2-40B4-BE49-F238E27FC236}">
                <a16:creationId xmlns:a16="http://schemas.microsoft.com/office/drawing/2014/main" id="{214F02BF-83A2-4F84-B9F8-6E492AF23311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4900307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/>
          </a:p>
        </p:txBody>
      </p:sp>
      <p:pic>
        <p:nvPicPr>
          <p:cNvPr id="11" name="Picture 2">
            <a:hlinkClick r:id="rId3"/>
            <a:extLst>
              <a:ext uri="{FF2B5EF4-FFF2-40B4-BE49-F238E27FC236}">
                <a16:creationId xmlns:a16="http://schemas.microsoft.com/office/drawing/2014/main" id="{82D95A3C-1537-438F-9A34-CDA2FCD2D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75140" y="340072"/>
            <a:ext cx="4451144" cy="469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3">
            <a:extLst>
              <a:ext uri="{FF2B5EF4-FFF2-40B4-BE49-F238E27FC236}">
                <a16:creationId xmlns:a16="http://schemas.microsoft.com/office/drawing/2014/main" id="{FC584363-FC33-4D49-8A59-4FE84513907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213" y="6380073"/>
            <a:ext cx="1607476" cy="436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09460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777D388-01C3-486D-A87C-B924DC57D2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8045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B243DEEE-11C0-45AB-B44D-DA0457D58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15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C39D7682-F964-461A-AAAE-372642E0A3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8689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>
            <a:extLst>
              <a:ext uri="{FF2B5EF4-FFF2-40B4-BE49-F238E27FC236}">
                <a16:creationId xmlns:a16="http://schemas.microsoft.com/office/drawing/2014/main" id="{F27029BD-E6AF-407F-ACA5-95E13AE34A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1322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E618970D-DD05-4ECF-8733-3A668C35F9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9335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45A8477-25E2-4F3E-A2CA-70F6EA99A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360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A425C922-DC02-4EB7-87C5-86932890B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1663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42F45190-893E-4A4D-AC70-724C5AF4D2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231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AB0D377E-235C-4633-8C31-8C68362A9770}"/>
              </a:ext>
            </a:extLst>
          </p:cNvPr>
          <p:cNvSpPr/>
          <p:nvPr userDrawn="1"/>
        </p:nvSpPr>
        <p:spPr bwMode="auto">
          <a:xfrm>
            <a:off x="-1" y="812799"/>
            <a:ext cx="12191999" cy="541117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026" name="Rectangle 4">
            <a:extLst>
              <a:ext uri="{FF2B5EF4-FFF2-40B4-BE49-F238E27FC236}">
                <a16:creationId xmlns:a16="http://schemas.microsoft.com/office/drawing/2014/main"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> Sie, um die </a:t>
            </a:r>
            <a:r>
              <a:rPr lang="en-US" altLang="zh-TW" dirty="0" err="1"/>
              <a:t>Formate</a:t>
            </a:r>
            <a:r>
              <a:rPr lang="en-US" altLang="zh-TW" dirty="0"/>
              <a:t> des </a:t>
            </a:r>
            <a:r>
              <a:rPr lang="en-US" altLang="zh-TW" dirty="0" err="1"/>
              <a:t>Vorlagentextes</a:t>
            </a:r>
            <a:r>
              <a:rPr lang="en-US" altLang="zh-TW" dirty="0"/>
              <a:t> </a:t>
            </a:r>
            <a:r>
              <a:rPr lang="en-US" altLang="zh-TW" dirty="0" err="1"/>
              <a:t>zu</a:t>
            </a:r>
            <a:r>
              <a:rPr lang="en-US" altLang="zh-TW" dirty="0"/>
              <a:t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a16:creationId xmlns:a16="http://schemas.microsoft.com/office/drawing/2014/main"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/>
          </a:p>
        </p:txBody>
      </p:sp>
      <p:sp>
        <p:nvSpPr>
          <p:cNvPr id="1029" name="Line 24">
            <a:extLst>
              <a:ext uri="{FF2B5EF4-FFF2-40B4-BE49-F238E27FC236}">
                <a16:creationId xmlns:a16="http://schemas.microsoft.com/office/drawing/2014/main"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/>
          </a:p>
        </p:txBody>
      </p:sp>
      <p:sp>
        <p:nvSpPr>
          <p:cNvPr id="1030" name="Line 25">
            <a:extLst>
              <a:ext uri="{FF2B5EF4-FFF2-40B4-BE49-F238E27FC236}">
                <a16:creationId xmlns:a16="http://schemas.microsoft.com/office/drawing/2014/main" id="{311CE126-5E96-48EA-A8E4-423F29F2B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/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87C75FDA-A8B1-4916-8A2B-A105EA9C4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>
                <a:latin typeface="+mn-lt"/>
              </a:defRPr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10" name="Picture 13">
            <a:extLst>
              <a:ext uri="{FF2B5EF4-FFF2-40B4-BE49-F238E27FC236}">
                <a16:creationId xmlns:a16="http://schemas.microsoft.com/office/drawing/2014/main" id="{FC584363-FC33-4D49-8A59-4FE84513907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213" y="6380073"/>
            <a:ext cx="1607476" cy="436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73363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Calibri" panose="020F0502020204030204" pitchFamily="34" charset="0"/>
          <a:ea typeface="微軟正黑體" panose="020B0604030504040204" pitchFamily="34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Calibri" panose="020F0502020204030204" pitchFamily="34" charset="0"/>
          <a:ea typeface="微軟正黑體" panose="020B0604030504040204" pitchFamily="34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Calibri" panose="020F0502020204030204" pitchFamily="34" charset="0"/>
          <a:ea typeface="微軟正黑體" panose="020B0604030504040204" pitchFamily="34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Calibri" panose="020F0502020204030204" pitchFamily="34" charset="0"/>
          <a:ea typeface="微軟正黑體" panose="020B0604030504040204" pitchFamily="34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Calibri" panose="020F0502020204030204" pitchFamily="34" charset="0"/>
          <a:ea typeface="微軟正黑體" panose="020B0604030504040204" pitchFamily="34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Calibri" panose="020F0502020204030204" pitchFamily="34" charset="0"/>
          <a:ea typeface="微軟正黑體" panose="020B0604030504040204" pitchFamily="34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文字方塊 77">
            <a:extLst>
              <a:ext uri="{FF2B5EF4-FFF2-40B4-BE49-F238E27FC236}">
                <a16:creationId xmlns:a16="http://schemas.microsoft.com/office/drawing/2014/main" id="{01884AA4-4B66-4FD3-A3E3-51BEB06E8494}"/>
              </a:ext>
            </a:extLst>
          </p:cNvPr>
          <p:cNvSpPr txBox="1"/>
          <p:nvPr/>
        </p:nvSpPr>
        <p:spPr>
          <a:xfrm>
            <a:off x="430307" y="120876"/>
            <a:ext cx="117975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latin typeface="+mj-lt"/>
                <a:ea typeface="標楷體" panose="03000509000000000000" pitchFamily="65" charset="-120"/>
              </a:rPr>
              <a:t>Phase 1: Offline Legal Feature Tensorization</a:t>
            </a:r>
          </a:p>
        </p:txBody>
      </p:sp>
      <p:sp>
        <p:nvSpPr>
          <p:cNvPr id="567" name="圓柱形 566">
            <a:extLst>
              <a:ext uri="{FF2B5EF4-FFF2-40B4-BE49-F238E27FC236}">
                <a16:creationId xmlns:a16="http://schemas.microsoft.com/office/drawing/2014/main" id="{5DE6D9CF-DF91-4A3F-8807-0B67483C0ED9}"/>
              </a:ext>
            </a:extLst>
          </p:cNvPr>
          <p:cNvSpPr/>
          <p:nvPr/>
        </p:nvSpPr>
        <p:spPr bwMode="auto">
          <a:xfrm rot="16200000">
            <a:off x="1853542" y="-175178"/>
            <a:ext cx="4536054" cy="6900414"/>
          </a:xfrm>
          <a:prstGeom prst="can">
            <a:avLst>
              <a:gd name="adj" fmla="val 6728"/>
            </a:avLst>
          </a:prstGeom>
          <a:solidFill>
            <a:schemeClr val="tx1">
              <a:lumMod val="20000"/>
              <a:lumOff val="80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62" name="文字方塊 161">
            <a:extLst>
              <a:ext uri="{FF2B5EF4-FFF2-40B4-BE49-F238E27FC236}">
                <a16:creationId xmlns:a16="http://schemas.microsoft.com/office/drawing/2014/main" id="{6994DAE7-6274-4431-A352-656684EA752B}"/>
              </a:ext>
            </a:extLst>
          </p:cNvPr>
          <p:cNvSpPr txBox="1"/>
          <p:nvPr/>
        </p:nvSpPr>
        <p:spPr>
          <a:xfrm>
            <a:off x="1266991" y="3669078"/>
            <a:ext cx="8143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400" dirty="0">
                <a:solidFill>
                  <a:srgbClr val="000000"/>
                </a:solidFill>
              </a:rPr>
              <a:t>Y1: Fact</a:t>
            </a:r>
          </a:p>
        </p:txBody>
      </p:sp>
      <p:sp>
        <p:nvSpPr>
          <p:cNvPr id="163" name="文字方塊 162">
            <a:extLst>
              <a:ext uri="{FF2B5EF4-FFF2-40B4-BE49-F238E27FC236}">
                <a16:creationId xmlns:a16="http://schemas.microsoft.com/office/drawing/2014/main" id="{065C09AB-82F3-4373-8AAB-5280D2A3E171}"/>
              </a:ext>
            </a:extLst>
          </p:cNvPr>
          <p:cNvSpPr txBox="1"/>
          <p:nvPr/>
        </p:nvSpPr>
        <p:spPr>
          <a:xfrm>
            <a:off x="1190836" y="4326820"/>
            <a:ext cx="9666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400" dirty="0">
                <a:solidFill>
                  <a:srgbClr val="000000"/>
                </a:solidFill>
              </a:rPr>
              <a:t>Y2: Injury</a:t>
            </a:r>
          </a:p>
        </p:txBody>
      </p:sp>
      <p:graphicFrame>
        <p:nvGraphicFramePr>
          <p:cNvPr id="29" name="表格 28">
            <a:extLst>
              <a:ext uri="{FF2B5EF4-FFF2-40B4-BE49-F238E27FC236}">
                <a16:creationId xmlns:a16="http://schemas.microsoft.com/office/drawing/2014/main" id="{8F373197-7CC2-437E-8B3D-AF997C77C4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703043"/>
              </p:ext>
            </p:extLst>
          </p:nvPr>
        </p:nvGraphicFramePr>
        <p:xfrm>
          <a:off x="2402196" y="1927791"/>
          <a:ext cx="4973604" cy="660778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1243401">
                  <a:extLst>
                    <a:ext uri="{9D8B030D-6E8A-4147-A177-3AD203B41FA5}">
                      <a16:colId xmlns:a16="http://schemas.microsoft.com/office/drawing/2014/main" val="1815931390"/>
                    </a:ext>
                  </a:extLst>
                </a:gridCol>
                <a:gridCol w="1243401">
                  <a:extLst>
                    <a:ext uri="{9D8B030D-6E8A-4147-A177-3AD203B41FA5}">
                      <a16:colId xmlns:a16="http://schemas.microsoft.com/office/drawing/2014/main" val="1064568460"/>
                    </a:ext>
                  </a:extLst>
                </a:gridCol>
                <a:gridCol w="1243401">
                  <a:extLst>
                    <a:ext uri="{9D8B030D-6E8A-4147-A177-3AD203B41FA5}">
                      <a16:colId xmlns:a16="http://schemas.microsoft.com/office/drawing/2014/main" val="4171019709"/>
                    </a:ext>
                  </a:extLst>
                </a:gridCol>
                <a:gridCol w="1243401">
                  <a:extLst>
                    <a:ext uri="{9D8B030D-6E8A-4147-A177-3AD203B41FA5}">
                      <a16:colId xmlns:a16="http://schemas.microsoft.com/office/drawing/2014/main" val="53539183"/>
                    </a:ext>
                  </a:extLst>
                </a:gridCol>
              </a:tblGrid>
              <a:tr h="660778"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7212425"/>
                  </a:ext>
                </a:extLst>
              </a:tr>
            </a:tbl>
          </a:graphicData>
        </a:graphic>
      </p:graphicFrame>
      <p:sp>
        <p:nvSpPr>
          <p:cNvPr id="109" name="文字方塊 108">
            <a:extLst>
              <a:ext uri="{FF2B5EF4-FFF2-40B4-BE49-F238E27FC236}">
                <a16:creationId xmlns:a16="http://schemas.microsoft.com/office/drawing/2014/main" id="{66398847-D3B4-4317-AA73-3135C4DE735A}"/>
              </a:ext>
            </a:extLst>
          </p:cNvPr>
          <p:cNvSpPr txBox="1"/>
          <p:nvPr/>
        </p:nvSpPr>
        <p:spPr>
          <a:xfrm>
            <a:off x="2410702" y="1428172"/>
            <a:ext cx="12405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400" dirty="0">
                <a:solidFill>
                  <a:srgbClr val="000000"/>
                </a:solidFill>
              </a:rPr>
              <a:t>L1: Single Plaintiff </a:t>
            </a:r>
          </a:p>
        </p:txBody>
      </p:sp>
      <p:sp>
        <p:nvSpPr>
          <p:cNvPr id="111" name="文字方塊 110">
            <a:extLst>
              <a:ext uri="{FF2B5EF4-FFF2-40B4-BE49-F238E27FC236}">
                <a16:creationId xmlns:a16="http://schemas.microsoft.com/office/drawing/2014/main" id="{423E3BFE-BB6A-4561-9E8D-354E80979F28}"/>
              </a:ext>
            </a:extLst>
          </p:cNvPr>
          <p:cNvSpPr txBox="1"/>
          <p:nvPr/>
        </p:nvSpPr>
        <p:spPr>
          <a:xfrm>
            <a:off x="3660158" y="1428172"/>
            <a:ext cx="12405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400" dirty="0">
                <a:solidFill>
                  <a:srgbClr val="000000"/>
                </a:solidFill>
              </a:rPr>
              <a:t>L2: Multiple Plaintiffs</a:t>
            </a:r>
          </a:p>
        </p:txBody>
      </p:sp>
      <p:sp>
        <p:nvSpPr>
          <p:cNvPr id="112" name="文字方塊 111">
            <a:extLst>
              <a:ext uri="{FF2B5EF4-FFF2-40B4-BE49-F238E27FC236}">
                <a16:creationId xmlns:a16="http://schemas.microsoft.com/office/drawing/2014/main" id="{9AB62483-EE2F-4858-BFE9-1C4A5AF3764D}"/>
              </a:ext>
            </a:extLst>
          </p:cNvPr>
          <p:cNvSpPr txBox="1"/>
          <p:nvPr/>
        </p:nvSpPr>
        <p:spPr>
          <a:xfrm>
            <a:off x="4892385" y="1428172"/>
            <a:ext cx="12405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400" dirty="0">
                <a:solidFill>
                  <a:srgbClr val="000000"/>
                </a:solidFill>
              </a:rPr>
              <a:t>L3: Single Defendant</a:t>
            </a:r>
          </a:p>
        </p:txBody>
      </p:sp>
      <p:sp>
        <p:nvSpPr>
          <p:cNvPr id="113" name="文字方塊 112">
            <a:extLst>
              <a:ext uri="{FF2B5EF4-FFF2-40B4-BE49-F238E27FC236}">
                <a16:creationId xmlns:a16="http://schemas.microsoft.com/office/drawing/2014/main" id="{22C18E06-91A6-43B5-9BA1-6266F88F891C}"/>
              </a:ext>
            </a:extLst>
          </p:cNvPr>
          <p:cNvSpPr txBox="1"/>
          <p:nvPr/>
        </p:nvSpPr>
        <p:spPr>
          <a:xfrm>
            <a:off x="6094242" y="1428172"/>
            <a:ext cx="13342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400" dirty="0">
                <a:solidFill>
                  <a:srgbClr val="000000"/>
                </a:solidFill>
              </a:rPr>
              <a:t>L4: Multiple Defendants</a:t>
            </a:r>
          </a:p>
        </p:txBody>
      </p:sp>
      <p:sp>
        <p:nvSpPr>
          <p:cNvPr id="114" name="矩形: 圓角 113">
            <a:extLst>
              <a:ext uri="{FF2B5EF4-FFF2-40B4-BE49-F238E27FC236}">
                <a16:creationId xmlns:a16="http://schemas.microsoft.com/office/drawing/2014/main" id="{0091C967-2C35-4A51-BE72-AB2D85BA6334}"/>
              </a:ext>
            </a:extLst>
          </p:cNvPr>
          <p:cNvSpPr/>
          <p:nvPr/>
        </p:nvSpPr>
        <p:spPr bwMode="auto">
          <a:xfrm>
            <a:off x="3646280" y="1912915"/>
            <a:ext cx="1233008" cy="672313"/>
          </a:xfrm>
          <a:prstGeom prst="roundRect">
            <a:avLst>
              <a:gd name="adj" fmla="val 0"/>
            </a:avLst>
          </a:prstGeom>
          <a:solidFill>
            <a:srgbClr val="D0D1EC">
              <a:alpha val="50196"/>
            </a:srgbClr>
          </a:solidFill>
          <a:ln w="38100" cap="flat" cmpd="sng" algn="ctr">
            <a:solidFill>
              <a:srgbClr val="6B6DC3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18" name="矩形: 圓角 117">
            <a:extLst>
              <a:ext uri="{FF2B5EF4-FFF2-40B4-BE49-F238E27FC236}">
                <a16:creationId xmlns:a16="http://schemas.microsoft.com/office/drawing/2014/main" id="{552268D5-D73F-4B01-AAE7-2F4ACF70BEBA}"/>
              </a:ext>
            </a:extLst>
          </p:cNvPr>
          <p:cNvSpPr/>
          <p:nvPr/>
        </p:nvSpPr>
        <p:spPr bwMode="auto">
          <a:xfrm>
            <a:off x="6142778" y="1912915"/>
            <a:ext cx="1233008" cy="672313"/>
          </a:xfrm>
          <a:prstGeom prst="roundRect">
            <a:avLst>
              <a:gd name="adj" fmla="val 0"/>
            </a:avLst>
          </a:prstGeom>
          <a:solidFill>
            <a:srgbClr val="D0D1EC">
              <a:alpha val="50196"/>
            </a:srgbClr>
          </a:solidFill>
          <a:ln w="38100" cap="flat" cmpd="sng" algn="ctr">
            <a:solidFill>
              <a:srgbClr val="6B6DC3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06" name="文字方塊 105">
            <a:extLst>
              <a:ext uri="{FF2B5EF4-FFF2-40B4-BE49-F238E27FC236}">
                <a16:creationId xmlns:a16="http://schemas.microsoft.com/office/drawing/2014/main" id="{B690024B-34E0-4408-A3ED-CD3FFBA27B6B}"/>
              </a:ext>
            </a:extLst>
          </p:cNvPr>
          <p:cNvSpPr txBox="1"/>
          <p:nvPr/>
        </p:nvSpPr>
        <p:spPr>
          <a:xfrm>
            <a:off x="2784927" y="2052239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000000"/>
                </a:solidFill>
              </a:rPr>
              <a:t>[0]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82" name="文字方塊 81">
            <a:extLst>
              <a:ext uri="{FF2B5EF4-FFF2-40B4-BE49-F238E27FC236}">
                <a16:creationId xmlns:a16="http://schemas.microsoft.com/office/drawing/2014/main" id="{40A356CF-97D3-4F63-AAFC-2EA2B98D97D7}"/>
              </a:ext>
            </a:extLst>
          </p:cNvPr>
          <p:cNvSpPr txBox="1"/>
          <p:nvPr/>
        </p:nvSpPr>
        <p:spPr>
          <a:xfrm>
            <a:off x="4030120" y="2052239"/>
            <a:ext cx="4539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000000"/>
                </a:solidFill>
              </a:rPr>
              <a:t>[1]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107" name="文字方塊 106">
            <a:extLst>
              <a:ext uri="{FF2B5EF4-FFF2-40B4-BE49-F238E27FC236}">
                <a16:creationId xmlns:a16="http://schemas.microsoft.com/office/drawing/2014/main" id="{545B048C-8893-4EF7-BD71-E5E6B2CFC8BE}"/>
              </a:ext>
            </a:extLst>
          </p:cNvPr>
          <p:cNvSpPr txBox="1"/>
          <p:nvPr/>
        </p:nvSpPr>
        <p:spPr>
          <a:xfrm>
            <a:off x="5298120" y="2052239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000000"/>
                </a:solidFill>
              </a:rPr>
              <a:t>[0]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108" name="文字方塊 107">
            <a:extLst>
              <a:ext uri="{FF2B5EF4-FFF2-40B4-BE49-F238E27FC236}">
                <a16:creationId xmlns:a16="http://schemas.microsoft.com/office/drawing/2014/main" id="{14F01FC8-BE3E-4132-B591-72BBF77836DD}"/>
              </a:ext>
            </a:extLst>
          </p:cNvPr>
          <p:cNvSpPr txBox="1"/>
          <p:nvPr/>
        </p:nvSpPr>
        <p:spPr>
          <a:xfrm>
            <a:off x="6517067" y="2052239"/>
            <a:ext cx="4539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000000"/>
                </a:solidFill>
              </a:rPr>
              <a:t>[1]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144" name="文字方塊 143">
            <a:extLst>
              <a:ext uri="{FF2B5EF4-FFF2-40B4-BE49-F238E27FC236}">
                <a16:creationId xmlns:a16="http://schemas.microsoft.com/office/drawing/2014/main" id="{3D9BA8D4-17D7-477E-9551-370CEB260FBE}"/>
              </a:ext>
            </a:extLst>
          </p:cNvPr>
          <p:cNvSpPr txBox="1"/>
          <p:nvPr/>
        </p:nvSpPr>
        <p:spPr>
          <a:xfrm>
            <a:off x="9162699" y="2799601"/>
            <a:ext cx="13342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600" dirty="0">
                <a:solidFill>
                  <a:srgbClr val="000000"/>
                </a:solidFill>
              </a:rPr>
              <a:t>Injury</a:t>
            </a:r>
          </a:p>
        </p:txBody>
      </p:sp>
      <p:sp>
        <p:nvSpPr>
          <p:cNvPr id="145" name="文字方塊 144">
            <a:extLst>
              <a:ext uri="{FF2B5EF4-FFF2-40B4-BE49-F238E27FC236}">
                <a16:creationId xmlns:a16="http://schemas.microsoft.com/office/drawing/2014/main" id="{3D13BF66-FC41-45BF-9441-CE33FDE48BEE}"/>
              </a:ext>
            </a:extLst>
          </p:cNvPr>
          <p:cNvSpPr txBox="1"/>
          <p:nvPr/>
        </p:nvSpPr>
        <p:spPr>
          <a:xfrm>
            <a:off x="9162699" y="1312972"/>
            <a:ext cx="13342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600" dirty="0">
                <a:solidFill>
                  <a:srgbClr val="000000"/>
                </a:solidFill>
              </a:rPr>
              <a:t>Fact</a:t>
            </a:r>
          </a:p>
        </p:txBody>
      </p:sp>
      <p:sp>
        <p:nvSpPr>
          <p:cNvPr id="151" name="文字方塊 150">
            <a:extLst>
              <a:ext uri="{FF2B5EF4-FFF2-40B4-BE49-F238E27FC236}">
                <a16:creationId xmlns:a16="http://schemas.microsoft.com/office/drawing/2014/main" id="{12EE3BAC-B5A1-41C8-BC61-3E91EAA1EACA}"/>
              </a:ext>
            </a:extLst>
          </p:cNvPr>
          <p:cNvSpPr txBox="1"/>
          <p:nvPr/>
        </p:nvSpPr>
        <p:spPr>
          <a:xfrm>
            <a:off x="9070503" y="4250079"/>
            <a:ext cx="15186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600" dirty="0">
                <a:solidFill>
                  <a:srgbClr val="000000"/>
                </a:solidFill>
              </a:rPr>
              <a:t>Compensation</a:t>
            </a:r>
          </a:p>
        </p:txBody>
      </p:sp>
      <p:graphicFrame>
        <p:nvGraphicFramePr>
          <p:cNvPr id="451" name="表格 451">
            <a:extLst>
              <a:ext uri="{FF2B5EF4-FFF2-40B4-BE49-F238E27FC236}">
                <a16:creationId xmlns:a16="http://schemas.microsoft.com/office/drawing/2014/main" id="{B375BB3B-DDC2-4D6C-B4F8-ECE0878DDB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6399859"/>
              </p:ext>
            </p:extLst>
          </p:nvPr>
        </p:nvGraphicFramePr>
        <p:xfrm>
          <a:off x="7692490" y="1655618"/>
          <a:ext cx="4274705" cy="110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4941">
                  <a:extLst>
                    <a:ext uri="{9D8B030D-6E8A-4147-A177-3AD203B41FA5}">
                      <a16:colId xmlns:a16="http://schemas.microsoft.com/office/drawing/2014/main" val="667570077"/>
                    </a:ext>
                  </a:extLst>
                </a:gridCol>
                <a:gridCol w="854941">
                  <a:extLst>
                    <a:ext uri="{9D8B030D-6E8A-4147-A177-3AD203B41FA5}">
                      <a16:colId xmlns:a16="http://schemas.microsoft.com/office/drawing/2014/main" val="1138835852"/>
                    </a:ext>
                  </a:extLst>
                </a:gridCol>
                <a:gridCol w="854941">
                  <a:extLst>
                    <a:ext uri="{9D8B030D-6E8A-4147-A177-3AD203B41FA5}">
                      <a16:colId xmlns:a16="http://schemas.microsoft.com/office/drawing/2014/main" val="642398563"/>
                    </a:ext>
                  </a:extLst>
                </a:gridCol>
                <a:gridCol w="854941">
                  <a:extLst>
                    <a:ext uri="{9D8B030D-6E8A-4147-A177-3AD203B41FA5}">
                      <a16:colId xmlns:a16="http://schemas.microsoft.com/office/drawing/2014/main" val="4094493842"/>
                    </a:ext>
                  </a:extLst>
                </a:gridCol>
                <a:gridCol w="854941">
                  <a:extLst>
                    <a:ext uri="{9D8B030D-6E8A-4147-A177-3AD203B41FA5}">
                      <a16:colId xmlns:a16="http://schemas.microsoft.com/office/drawing/2014/main" val="36860593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a:t>1.0</a:t>
                      </a:r>
                      <a:endParaRPr lang="zh-TW" altLang="en-US" sz="1400" b="0" dirty="0">
                        <a:solidFill>
                          <a:srgbClr val="000000"/>
                        </a:solidFill>
                        <a:latin typeface="+mn-lt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AE82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a:t>0.8</a:t>
                      </a:r>
                      <a:endParaRPr lang="zh-TW" altLang="en-US" sz="1400" b="0" dirty="0">
                        <a:solidFill>
                          <a:srgbClr val="000000"/>
                        </a:solidFill>
                        <a:latin typeface="+mn-lt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C48F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a:t>0.6</a:t>
                      </a:r>
                      <a:endParaRPr lang="zh-TW" altLang="en-US" sz="1400" b="0" dirty="0">
                        <a:solidFill>
                          <a:srgbClr val="000000"/>
                        </a:solidFill>
                        <a:latin typeface="+mn-lt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D9A3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a:t>0.4</a:t>
                      </a:r>
                      <a:endParaRPr lang="zh-TW" altLang="en-US" sz="1400" b="0" dirty="0">
                        <a:solidFill>
                          <a:srgbClr val="000000"/>
                        </a:solidFill>
                        <a:latin typeface="+mn-lt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ECC4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a:t>0.2</a:t>
                      </a:r>
                      <a:endParaRPr lang="zh-TW" altLang="en-US" sz="1400" b="0" dirty="0">
                        <a:solidFill>
                          <a:srgbClr val="000000"/>
                        </a:solidFill>
                        <a:latin typeface="+mn-lt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8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4123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50" b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a:t>酒駕</a:t>
                      </a:r>
                      <a:endParaRPr lang="en-US" altLang="zh-TW" sz="1050" b="0" dirty="0">
                        <a:solidFill>
                          <a:srgbClr val="000000"/>
                        </a:solidFill>
                        <a:latin typeface="+mn-lt"/>
                        <a:ea typeface="+mn-ea"/>
                      </a:endParaRPr>
                    </a:p>
                    <a:p>
                      <a:pPr algn="ctr"/>
                      <a:r>
                        <a:rPr lang="zh-TW" altLang="en-US" sz="1050" b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a:t>無照</a:t>
                      </a:r>
                      <a:endParaRPr lang="en-US" altLang="zh-TW" sz="1050" b="0" dirty="0">
                        <a:solidFill>
                          <a:srgbClr val="000000"/>
                        </a:solidFill>
                        <a:latin typeface="+mn-lt"/>
                        <a:ea typeface="+mn-ea"/>
                      </a:endParaRPr>
                    </a:p>
                    <a:p>
                      <a:pPr algn="ctr"/>
                      <a:r>
                        <a:rPr lang="en-US" altLang="zh-TW" sz="1050" b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a:t>...</a:t>
                      </a:r>
                      <a:endParaRPr lang="zh-TW" altLang="en-US" sz="1050" b="0" dirty="0">
                        <a:solidFill>
                          <a:srgbClr val="000000"/>
                        </a:solidFill>
                        <a:latin typeface="+mn-lt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50" b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a:t>闖紅燈</a:t>
                      </a:r>
                      <a:endParaRPr lang="en-US" altLang="zh-TW" sz="1050" b="0" dirty="0">
                        <a:solidFill>
                          <a:srgbClr val="000000"/>
                        </a:solidFill>
                        <a:latin typeface="+mn-lt"/>
                        <a:ea typeface="+mn-ea"/>
                      </a:endParaRPr>
                    </a:p>
                    <a:p>
                      <a:pPr algn="ctr"/>
                      <a:r>
                        <a:rPr lang="zh-TW" altLang="en-US" sz="1050" b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a:t>逆向</a:t>
                      </a:r>
                      <a:endParaRPr lang="en-US" altLang="zh-TW" sz="1050" b="0" dirty="0">
                        <a:solidFill>
                          <a:srgbClr val="000000"/>
                        </a:solidFill>
                        <a:latin typeface="+mn-lt"/>
                        <a:ea typeface="+mn-ea"/>
                      </a:endParaRPr>
                    </a:p>
                    <a:p>
                      <a:pPr algn="ctr"/>
                      <a:r>
                        <a:rPr lang="zh-TW" altLang="en-US" sz="1050" b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a:t>超速</a:t>
                      </a:r>
                      <a:endParaRPr lang="en-US" altLang="zh-TW" sz="1050" b="0" dirty="0">
                        <a:solidFill>
                          <a:srgbClr val="000000"/>
                        </a:solidFill>
                        <a:latin typeface="+mn-lt"/>
                        <a:ea typeface="+mn-ea"/>
                      </a:endParaRPr>
                    </a:p>
                    <a:p>
                      <a:pPr algn="ctr"/>
                      <a:r>
                        <a:rPr lang="en-US" altLang="zh-TW" sz="1050" b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a:t>...</a:t>
                      </a:r>
                      <a:endParaRPr lang="zh-TW" altLang="en-US" sz="1050" b="0" dirty="0">
                        <a:solidFill>
                          <a:srgbClr val="000000"/>
                        </a:solidFill>
                        <a:latin typeface="+mn-lt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50" b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a:t>未保持</a:t>
                      </a:r>
                      <a:endParaRPr lang="en-US" altLang="zh-TW" sz="1050" b="0" dirty="0">
                        <a:solidFill>
                          <a:srgbClr val="000000"/>
                        </a:solidFill>
                        <a:latin typeface="+mn-lt"/>
                        <a:ea typeface="+mn-ea"/>
                      </a:endParaRPr>
                    </a:p>
                    <a:p>
                      <a:pPr algn="ctr"/>
                      <a:r>
                        <a:rPr lang="zh-TW" altLang="en-US" sz="1050" b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a:t>安全距離</a:t>
                      </a:r>
                      <a:endParaRPr lang="en-US" altLang="zh-TW" sz="1050" b="0" dirty="0">
                        <a:solidFill>
                          <a:srgbClr val="000000"/>
                        </a:solidFill>
                        <a:latin typeface="+mn-lt"/>
                        <a:ea typeface="+mn-ea"/>
                      </a:endParaRPr>
                    </a:p>
                    <a:p>
                      <a:pPr algn="ctr"/>
                      <a:r>
                        <a:rPr lang="en-US" altLang="zh-TW" sz="1050" b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a:t>...</a:t>
                      </a:r>
                      <a:endParaRPr lang="zh-TW" altLang="en-US" sz="1050" b="0" dirty="0">
                        <a:solidFill>
                          <a:srgbClr val="000000"/>
                        </a:solidFill>
                        <a:latin typeface="+mn-lt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50" b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a:t>未注意</a:t>
                      </a:r>
                      <a:endParaRPr lang="en-US" altLang="zh-TW" sz="1050" b="0" dirty="0">
                        <a:solidFill>
                          <a:srgbClr val="000000"/>
                        </a:solidFill>
                        <a:latin typeface="+mn-lt"/>
                        <a:ea typeface="+mn-ea"/>
                      </a:endParaRPr>
                    </a:p>
                    <a:p>
                      <a:pPr algn="ctr"/>
                      <a:r>
                        <a:rPr lang="zh-TW" altLang="en-US" sz="1050" b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a:t>車前狀況</a:t>
                      </a:r>
                      <a:endParaRPr lang="en-US" altLang="zh-TW" sz="1050" b="0" dirty="0">
                        <a:solidFill>
                          <a:srgbClr val="000000"/>
                        </a:solidFill>
                        <a:latin typeface="+mn-lt"/>
                        <a:ea typeface="+mn-ea"/>
                      </a:endParaRPr>
                    </a:p>
                    <a:p>
                      <a:pPr algn="ctr"/>
                      <a:r>
                        <a:rPr lang="en-US" altLang="zh-TW" sz="1050" b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a:t>...</a:t>
                      </a:r>
                      <a:endParaRPr lang="zh-TW" altLang="en-US" sz="1050" b="0" dirty="0">
                        <a:solidFill>
                          <a:srgbClr val="000000"/>
                        </a:solidFill>
                        <a:latin typeface="+mn-lt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50" b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a:t>猝不及防</a:t>
                      </a:r>
                      <a:endParaRPr lang="en-US" altLang="zh-TW" sz="1050" b="0" dirty="0">
                        <a:solidFill>
                          <a:srgbClr val="000000"/>
                        </a:solidFill>
                        <a:latin typeface="+mn-lt"/>
                        <a:ea typeface="+mn-ea"/>
                      </a:endParaRPr>
                    </a:p>
                    <a:p>
                      <a:pPr algn="ctr"/>
                      <a:r>
                        <a:rPr lang="zh-TW" altLang="en-US" sz="1050" b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a:t>閃避不及</a:t>
                      </a:r>
                      <a:endParaRPr lang="en-US" altLang="zh-TW" sz="1050" b="0" dirty="0">
                        <a:solidFill>
                          <a:srgbClr val="000000"/>
                        </a:solidFill>
                        <a:latin typeface="+mn-lt"/>
                        <a:ea typeface="+mn-ea"/>
                      </a:endParaRPr>
                    </a:p>
                    <a:p>
                      <a:pPr algn="ctr"/>
                      <a:r>
                        <a:rPr lang="en-US" altLang="zh-TW" sz="1050" b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a:t>...</a:t>
                      </a:r>
                      <a:endParaRPr lang="zh-TW" altLang="en-US" sz="1050" b="0" dirty="0">
                        <a:solidFill>
                          <a:srgbClr val="000000"/>
                        </a:solidFill>
                        <a:latin typeface="+mn-lt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8402425"/>
                  </a:ext>
                </a:extLst>
              </a:tr>
            </a:tbl>
          </a:graphicData>
        </a:graphic>
      </p:graphicFrame>
      <p:graphicFrame>
        <p:nvGraphicFramePr>
          <p:cNvPr id="166" name="表格 451">
            <a:extLst>
              <a:ext uri="{FF2B5EF4-FFF2-40B4-BE49-F238E27FC236}">
                <a16:creationId xmlns:a16="http://schemas.microsoft.com/office/drawing/2014/main" id="{449128FC-EEF1-44BA-A8A6-FE0D3675CB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4036324"/>
              </p:ext>
            </p:extLst>
          </p:nvPr>
        </p:nvGraphicFramePr>
        <p:xfrm>
          <a:off x="7692490" y="3144857"/>
          <a:ext cx="4274705" cy="110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4941">
                  <a:extLst>
                    <a:ext uri="{9D8B030D-6E8A-4147-A177-3AD203B41FA5}">
                      <a16:colId xmlns:a16="http://schemas.microsoft.com/office/drawing/2014/main" val="667570077"/>
                    </a:ext>
                  </a:extLst>
                </a:gridCol>
                <a:gridCol w="854941">
                  <a:extLst>
                    <a:ext uri="{9D8B030D-6E8A-4147-A177-3AD203B41FA5}">
                      <a16:colId xmlns:a16="http://schemas.microsoft.com/office/drawing/2014/main" val="1138835852"/>
                    </a:ext>
                  </a:extLst>
                </a:gridCol>
                <a:gridCol w="854941">
                  <a:extLst>
                    <a:ext uri="{9D8B030D-6E8A-4147-A177-3AD203B41FA5}">
                      <a16:colId xmlns:a16="http://schemas.microsoft.com/office/drawing/2014/main" val="642398563"/>
                    </a:ext>
                  </a:extLst>
                </a:gridCol>
                <a:gridCol w="854941">
                  <a:extLst>
                    <a:ext uri="{9D8B030D-6E8A-4147-A177-3AD203B41FA5}">
                      <a16:colId xmlns:a16="http://schemas.microsoft.com/office/drawing/2014/main" val="4094493842"/>
                    </a:ext>
                  </a:extLst>
                </a:gridCol>
                <a:gridCol w="854941">
                  <a:extLst>
                    <a:ext uri="{9D8B030D-6E8A-4147-A177-3AD203B41FA5}">
                      <a16:colId xmlns:a16="http://schemas.microsoft.com/office/drawing/2014/main" val="36860593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a:t>1.0</a:t>
                      </a:r>
                      <a:endParaRPr lang="zh-TW" altLang="en-US" sz="1400" b="0" dirty="0">
                        <a:solidFill>
                          <a:srgbClr val="000000"/>
                        </a:solidFill>
                        <a:latin typeface="+mn-lt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85D3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a:t>0.8</a:t>
                      </a:r>
                      <a:endParaRPr lang="zh-TW" altLang="en-US" sz="1400" b="0" dirty="0">
                        <a:solidFill>
                          <a:srgbClr val="000000"/>
                        </a:solidFill>
                        <a:latin typeface="+mn-lt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9EDC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a:t>0.6</a:t>
                      </a:r>
                      <a:endParaRPr lang="zh-TW" altLang="en-US" sz="1400" b="0" dirty="0">
                        <a:solidFill>
                          <a:srgbClr val="000000"/>
                        </a:solidFill>
                        <a:latin typeface="+mn-lt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B9E6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a:t>0.4</a:t>
                      </a:r>
                      <a:endParaRPr lang="zh-TW" altLang="en-US" sz="1400" b="0" dirty="0">
                        <a:solidFill>
                          <a:srgbClr val="000000"/>
                        </a:solidFill>
                        <a:latin typeface="+mn-lt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CCED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a:t>0.2</a:t>
                      </a:r>
                      <a:endParaRPr lang="zh-TW" altLang="en-US" sz="1400" b="0" dirty="0">
                        <a:solidFill>
                          <a:srgbClr val="000000"/>
                        </a:solidFill>
                        <a:latin typeface="+mn-lt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E9F7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4123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5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a:t>植物人</a:t>
                      </a:r>
                      <a:endParaRPr lang="en-US" altLang="zh-TW" sz="1050" dirty="0">
                        <a:solidFill>
                          <a:srgbClr val="000000"/>
                        </a:solidFill>
                        <a:latin typeface="+mn-lt"/>
                        <a:ea typeface="+mn-ea"/>
                      </a:endParaRPr>
                    </a:p>
                    <a:p>
                      <a:pPr algn="ctr"/>
                      <a:r>
                        <a:rPr lang="zh-TW" altLang="en-US" sz="105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a:t>截肢</a:t>
                      </a:r>
                      <a:endParaRPr lang="en-US" altLang="zh-TW" sz="1050" dirty="0">
                        <a:solidFill>
                          <a:srgbClr val="000000"/>
                        </a:solidFill>
                        <a:latin typeface="+mn-lt"/>
                        <a:ea typeface="+mn-ea"/>
                      </a:endParaRPr>
                    </a:p>
                    <a:p>
                      <a:pPr algn="ctr"/>
                      <a:r>
                        <a:rPr lang="en-US" altLang="zh-TW" sz="105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a:t>...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5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a:t>顱內出血、</a:t>
                      </a:r>
                      <a:endParaRPr lang="en-US" altLang="zh-TW" sz="1050" dirty="0">
                        <a:solidFill>
                          <a:srgbClr val="000000"/>
                        </a:solidFill>
                        <a:latin typeface="+mn-lt"/>
                        <a:ea typeface="+mn-ea"/>
                      </a:endParaRPr>
                    </a:p>
                    <a:p>
                      <a:pPr algn="ctr"/>
                      <a:r>
                        <a:rPr lang="zh-TW" altLang="en-US" sz="105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a:t>脊椎骨折、</a:t>
                      </a:r>
                      <a:endParaRPr lang="en-US" altLang="zh-TW" sz="1050" dirty="0">
                        <a:solidFill>
                          <a:srgbClr val="000000"/>
                        </a:solidFill>
                        <a:latin typeface="+mn-lt"/>
                        <a:ea typeface="+mn-ea"/>
                      </a:endParaRPr>
                    </a:p>
                    <a:p>
                      <a:pPr algn="ctr"/>
                      <a:r>
                        <a:rPr lang="zh-TW" altLang="en-US" sz="105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a:t>需專人看護</a:t>
                      </a:r>
                      <a:endParaRPr lang="en-US" altLang="zh-TW" sz="1050" dirty="0">
                        <a:solidFill>
                          <a:srgbClr val="000000"/>
                        </a:solidFill>
                        <a:latin typeface="+mn-lt"/>
                        <a:ea typeface="+mn-ea"/>
                      </a:endParaRPr>
                    </a:p>
                    <a:p>
                      <a:pPr algn="ctr"/>
                      <a:r>
                        <a:rPr lang="en-US" altLang="zh-TW" sz="105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a:t>...</a:t>
                      </a:r>
                      <a:r>
                        <a:rPr lang="zh-TW" altLang="en-US" sz="105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5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a:t>骨折</a:t>
                      </a:r>
                      <a:endParaRPr lang="en-US" altLang="zh-TW" sz="1050" dirty="0">
                        <a:solidFill>
                          <a:srgbClr val="000000"/>
                        </a:solidFill>
                        <a:latin typeface="+mn-lt"/>
                        <a:ea typeface="+mn-ea"/>
                      </a:endParaRPr>
                    </a:p>
                    <a:p>
                      <a:pPr algn="ctr"/>
                      <a:r>
                        <a:rPr lang="zh-TW" altLang="en-US" sz="105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a:t>鋼釘固定</a:t>
                      </a:r>
                      <a:endParaRPr lang="en-US" altLang="zh-TW" sz="1050" dirty="0">
                        <a:solidFill>
                          <a:srgbClr val="000000"/>
                        </a:solidFill>
                        <a:latin typeface="+mn-lt"/>
                        <a:ea typeface="+mn-ea"/>
                      </a:endParaRPr>
                    </a:p>
                    <a:p>
                      <a:pPr algn="ctr"/>
                      <a:r>
                        <a:rPr lang="zh-TW" altLang="en-US" sz="105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a:t>住院</a:t>
                      </a:r>
                      <a:endParaRPr lang="en-US" altLang="zh-TW" sz="1050" dirty="0">
                        <a:solidFill>
                          <a:srgbClr val="000000"/>
                        </a:solidFill>
                        <a:latin typeface="+mn-lt"/>
                        <a:ea typeface="+mn-ea"/>
                      </a:endParaRPr>
                    </a:p>
                    <a:p>
                      <a:pPr algn="ctr"/>
                      <a:r>
                        <a:rPr lang="en-US" altLang="zh-TW" sz="105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a:t>...</a:t>
                      </a:r>
                      <a:r>
                        <a:rPr lang="zh-TW" altLang="en-US" sz="105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5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a:t>挫傷</a:t>
                      </a:r>
                      <a:endParaRPr lang="en-US" altLang="zh-TW" sz="1050" dirty="0">
                        <a:solidFill>
                          <a:srgbClr val="000000"/>
                        </a:solidFill>
                        <a:latin typeface="+mn-lt"/>
                        <a:ea typeface="+mn-ea"/>
                      </a:endParaRPr>
                    </a:p>
                    <a:p>
                      <a:pPr algn="ctr"/>
                      <a:r>
                        <a:rPr lang="zh-TW" altLang="en-US" sz="105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a:t>腦震盪</a:t>
                      </a:r>
                      <a:endParaRPr lang="en-US" altLang="zh-TW" sz="1050" dirty="0">
                        <a:solidFill>
                          <a:srgbClr val="000000"/>
                        </a:solidFill>
                        <a:latin typeface="+mn-lt"/>
                        <a:ea typeface="+mn-ea"/>
                      </a:endParaRPr>
                    </a:p>
                    <a:p>
                      <a:pPr algn="ctr"/>
                      <a:r>
                        <a:rPr lang="zh-TW" altLang="en-US" sz="105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a:t>復健</a:t>
                      </a:r>
                      <a:endParaRPr lang="en-US" altLang="zh-TW" sz="1050" dirty="0">
                        <a:solidFill>
                          <a:srgbClr val="000000"/>
                        </a:solidFill>
                        <a:latin typeface="+mn-lt"/>
                        <a:ea typeface="+mn-ea"/>
                      </a:endParaRPr>
                    </a:p>
                    <a:p>
                      <a:pPr algn="ctr"/>
                      <a:r>
                        <a:rPr lang="en-US" altLang="zh-TW" sz="105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a:t>...</a:t>
                      </a:r>
                      <a:endParaRPr lang="zh-TW" altLang="en-US" sz="1050" dirty="0">
                        <a:solidFill>
                          <a:srgbClr val="000000"/>
                        </a:solidFill>
                        <a:latin typeface="+mn-lt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5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a:t>擦傷</a:t>
                      </a:r>
                      <a:endParaRPr lang="en-US" altLang="zh-TW" sz="1050" dirty="0">
                        <a:solidFill>
                          <a:srgbClr val="000000"/>
                        </a:solidFill>
                        <a:latin typeface="+mn-lt"/>
                        <a:ea typeface="+mn-ea"/>
                      </a:endParaRPr>
                    </a:p>
                    <a:p>
                      <a:pPr algn="ctr"/>
                      <a:r>
                        <a:rPr lang="zh-TW" altLang="en-US" sz="105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a:t>破皮</a:t>
                      </a:r>
                      <a:endParaRPr lang="en-US" altLang="zh-TW" sz="1050" dirty="0">
                        <a:solidFill>
                          <a:srgbClr val="000000"/>
                        </a:solidFill>
                        <a:latin typeface="+mn-lt"/>
                        <a:ea typeface="+mn-ea"/>
                      </a:endParaRPr>
                    </a:p>
                    <a:p>
                      <a:pPr algn="ctr"/>
                      <a:r>
                        <a:rPr lang="en-US" altLang="zh-TW" sz="105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a:t>...</a:t>
                      </a:r>
                      <a:endParaRPr lang="zh-TW" altLang="en-US" sz="1050" dirty="0">
                        <a:solidFill>
                          <a:srgbClr val="000000"/>
                        </a:solidFill>
                        <a:latin typeface="+mn-lt"/>
                        <a:ea typeface="+mn-ea"/>
                      </a:endParaRPr>
                    </a:p>
                    <a:p>
                      <a:endParaRPr lang="zh-TW" altLang="en-US" sz="1050" b="0" dirty="0">
                        <a:solidFill>
                          <a:srgbClr val="000000"/>
                        </a:solidFill>
                        <a:latin typeface="+mn-lt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8402425"/>
                  </a:ext>
                </a:extLst>
              </a:tr>
            </a:tbl>
          </a:graphicData>
        </a:graphic>
      </p:graphicFrame>
      <p:graphicFrame>
        <p:nvGraphicFramePr>
          <p:cNvPr id="167" name="表格 451">
            <a:extLst>
              <a:ext uri="{FF2B5EF4-FFF2-40B4-BE49-F238E27FC236}">
                <a16:creationId xmlns:a16="http://schemas.microsoft.com/office/drawing/2014/main" id="{5C2B23BA-1121-4C5B-8EE9-3372EC10FB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8700465"/>
              </p:ext>
            </p:extLst>
          </p:nvPr>
        </p:nvGraphicFramePr>
        <p:xfrm>
          <a:off x="7692490" y="4600716"/>
          <a:ext cx="4274705" cy="942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4941">
                  <a:extLst>
                    <a:ext uri="{9D8B030D-6E8A-4147-A177-3AD203B41FA5}">
                      <a16:colId xmlns:a16="http://schemas.microsoft.com/office/drawing/2014/main" val="667570077"/>
                    </a:ext>
                  </a:extLst>
                </a:gridCol>
                <a:gridCol w="854941">
                  <a:extLst>
                    <a:ext uri="{9D8B030D-6E8A-4147-A177-3AD203B41FA5}">
                      <a16:colId xmlns:a16="http://schemas.microsoft.com/office/drawing/2014/main" val="1138835852"/>
                    </a:ext>
                  </a:extLst>
                </a:gridCol>
                <a:gridCol w="854941">
                  <a:extLst>
                    <a:ext uri="{9D8B030D-6E8A-4147-A177-3AD203B41FA5}">
                      <a16:colId xmlns:a16="http://schemas.microsoft.com/office/drawing/2014/main" val="642398563"/>
                    </a:ext>
                  </a:extLst>
                </a:gridCol>
                <a:gridCol w="854941">
                  <a:extLst>
                    <a:ext uri="{9D8B030D-6E8A-4147-A177-3AD203B41FA5}">
                      <a16:colId xmlns:a16="http://schemas.microsoft.com/office/drawing/2014/main" val="4094493842"/>
                    </a:ext>
                  </a:extLst>
                </a:gridCol>
                <a:gridCol w="854941">
                  <a:extLst>
                    <a:ext uri="{9D8B030D-6E8A-4147-A177-3AD203B41FA5}">
                      <a16:colId xmlns:a16="http://schemas.microsoft.com/office/drawing/2014/main" val="36860593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a:t>1.0</a:t>
                      </a:r>
                      <a:endParaRPr lang="zh-TW" altLang="en-US" sz="1400" b="0" dirty="0">
                        <a:solidFill>
                          <a:srgbClr val="000000"/>
                        </a:solidFill>
                        <a:latin typeface="+mn-lt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79C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a:t>0.75</a:t>
                      </a:r>
                      <a:endParaRPr lang="zh-TW" altLang="en-US" sz="1400" b="0" dirty="0">
                        <a:solidFill>
                          <a:srgbClr val="000000"/>
                        </a:solidFill>
                        <a:latin typeface="+mn-lt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93D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a:t>0.5</a:t>
                      </a:r>
                      <a:endParaRPr lang="zh-TW" altLang="en-US" sz="1400" b="0" dirty="0">
                        <a:solidFill>
                          <a:srgbClr val="000000"/>
                        </a:solidFill>
                        <a:latin typeface="+mn-lt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ABD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a:t>0.25</a:t>
                      </a:r>
                      <a:endParaRPr lang="zh-TW" altLang="en-US" sz="1400" b="0" dirty="0">
                        <a:solidFill>
                          <a:srgbClr val="000000"/>
                        </a:solidFill>
                        <a:latin typeface="+mn-lt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C9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a:t>&lt;</a:t>
                      </a:r>
                      <a:r>
                        <a:rPr lang="zh-TW" altLang="en-US" sz="1400" b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a:t> </a:t>
                      </a:r>
                      <a:r>
                        <a:rPr lang="en-US" altLang="zh-TW" sz="1400" b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a:t>0</a:t>
                      </a:r>
                      <a:r>
                        <a:rPr lang="zh-TW" altLang="en-US" sz="1400" b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D9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4123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5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a:t>&gt; 250</a:t>
                      </a:r>
                      <a:r>
                        <a:rPr lang="zh-TW" altLang="en-US" sz="105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a:t>萬</a:t>
                      </a:r>
                      <a:endParaRPr lang="en-US" altLang="zh-TW" sz="1050" dirty="0">
                        <a:solidFill>
                          <a:srgbClr val="000000"/>
                        </a:solidFill>
                        <a:latin typeface="+mn-lt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5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a:t>100</a:t>
                      </a:r>
                      <a:r>
                        <a:rPr lang="zh-TW" altLang="en-US" sz="105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a:t>萬 </a:t>
                      </a:r>
                      <a:r>
                        <a:rPr lang="en-US" altLang="zh-TW" sz="105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a:t>~ </a:t>
                      </a:r>
                    </a:p>
                    <a:p>
                      <a:pPr algn="ctr"/>
                      <a:r>
                        <a:rPr lang="en-US" altLang="zh-TW" sz="105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a:t>250</a:t>
                      </a:r>
                      <a:r>
                        <a:rPr lang="zh-TW" altLang="en-US" sz="105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a:t>萬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5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a:t>30</a:t>
                      </a:r>
                      <a:r>
                        <a:rPr lang="zh-TW" altLang="en-US" sz="105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a:t>萬 </a:t>
                      </a:r>
                      <a:r>
                        <a:rPr lang="en-US" altLang="zh-TW" sz="105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a:t>~ </a:t>
                      </a:r>
                    </a:p>
                    <a:p>
                      <a:pPr algn="ctr"/>
                      <a:r>
                        <a:rPr lang="en-US" altLang="zh-TW" sz="105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a:t>100</a:t>
                      </a:r>
                      <a:r>
                        <a:rPr lang="zh-TW" altLang="en-US" sz="105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a:t>萬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5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a:t>&lt; 30</a:t>
                      </a:r>
                      <a:r>
                        <a:rPr lang="zh-TW" altLang="en-US" sz="105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a:t>萬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50" b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a:t>強制險已賠、</a:t>
                      </a:r>
                      <a:endParaRPr lang="en-US" altLang="zh-TW" sz="1050" b="0" dirty="0">
                        <a:solidFill>
                          <a:srgbClr val="000000"/>
                        </a:solidFill>
                        <a:latin typeface="+mn-lt"/>
                        <a:ea typeface="+mn-ea"/>
                      </a:endParaRPr>
                    </a:p>
                    <a:p>
                      <a:pPr algn="ctr"/>
                      <a:r>
                        <a:rPr lang="zh-TW" altLang="en-US" sz="1050" b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a:t>已獲賠償</a:t>
                      </a:r>
                      <a:endParaRPr lang="en-US" altLang="zh-TW" sz="1050" b="0" dirty="0">
                        <a:solidFill>
                          <a:srgbClr val="000000"/>
                        </a:solidFill>
                        <a:latin typeface="+mn-lt"/>
                        <a:ea typeface="+mn-ea"/>
                      </a:endParaRPr>
                    </a:p>
                    <a:p>
                      <a:pPr algn="ctr"/>
                      <a:r>
                        <a:rPr lang="en-US" altLang="zh-TW" sz="1050" b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a:t>...</a:t>
                      </a:r>
                      <a:endParaRPr lang="zh-TW" altLang="en-US" sz="1050" b="0" dirty="0">
                        <a:solidFill>
                          <a:srgbClr val="000000"/>
                        </a:solidFill>
                        <a:latin typeface="+mn-lt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8402425"/>
                  </a:ext>
                </a:extLst>
              </a:tr>
            </a:tbl>
          </a:graphicData>
        </a:graphic>
      </p:graphicFrame>
      <p:cxnSp>
        <p:nvCxnSpPr>
          <p:cNvPr id="168" name="接點: 弧形 167">
            <a:extLst>
              <a:ext uri="{FF2B5EF4-FFF2-40B4-BE49-F238E27FC236}">
                <a16:creationId xmlns:a16="http://schemas.microsoft.com/office/drawing/2014/main" id="{0AF9ABDD-40EF-44D2-8792-795F1F7E8642}"/>
              </a:ext>
            </a:extLst>
          </p:cNvPr>
          <p:cNvCxnSpPr>
            <a:cxnSpLocks/>
            <a:stCxn id="98" idx="3"/>
            <a:endCxn id="166" idx="1"/>
          </p:cNvCxnSpPr>
          <p:nvPr/>
        </p:nvCxnSpPr>
        <p:spPr bwMode="auto">
          <a:xfrm flipV="1">
            <a:off x="6971037" y="3696037"/>
            <a:ext cx="721453" cy="778661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15875" cap="flat" cmpd="sng" algn="ctr">
            <a:solidFill>
              <a:srgbClr val="6B6DC3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61" name="接點: 弧形 160">
            <a:extLst>
              <a:ext uri="{FF2B5EF4-FFF2-40B4-BE49-F238E27FC236}">
                <a16:creationId xmlns:a16="http://schemas.microsoft.com/office/drawing/2014/main" id="{0D561615-36FA-42FC-9A27-B79704810E6D}"/>
              </a:ext>
            </a:extLst>
          </p:cNvPr>
          <p:cNvCxnSpPr>
            <a:cxnSpLocks/>
            <a:stCxn id="97" idx="3"/>
            <a:endCxn id="451" idx="1"/>
          </p:cNvCxnSpPr>
          <p:nvPr/>
        </p:nvCxnSpPr>
        <p:spPr bwMode="auto">
          <a:xfrm flipV="1">
            <a:off x="6971037" y="2206798"/>
            <a:ext cx="721453" cy="1607831"/>
          </a:xfrm>
          <a:prstGeom prst="curvedConnector3">
            <a:avLst>
              <a:gd name="adj1" fmla="val 72532"/>
            </a:avLst>
          </a:prstGeom>
          <a:solidFill>
            <a:schemeClr val="accent1"/>
          </a:solidFill>
          <a:ln w="15875" cap="flat" cmpd="sng" algn="ctr">
            <a:solidFill>
              <a:srgbClr val="6B6DC3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71" name="接點: 弧形 170">
            <a:extLst>
              <a:ext uri="{FF2B5EF4-FFF2-40B4-BE49-F238E27FC236}">
                <a16:creationId xmlns:a16="http://schemas.microsoft.com/office/drawing/2014/main" id="{C48A80F8-0486-49C3-B446-D7F4ED4D2BE9}"/>
              </a:ext>
            </a:extLst>
          </p:cNvPr>
          <p:cNvCxnSpPr>
            <a:cxnSpLocks/>
            <a:stCxn id="74" idx="3"/>
            <a:endCxn id="167" idx="1"/>
          </p:cNvCxnSpPr>
          <p:nvPr/>
        </p:nvCxnSpPr>
        <p:spPr bwMode="auto">
          <a:xfrm flipV="1">
            <a:off x="7096072" y="5071886"/>
            <a:ext cx="596418" cy="53800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15875" cap="flat" cmpd="sng" algn="ctr">
            <a:solidFill>
              <a:srgbClr val="6B6DC3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497" name="表格 497">
            <a:extLst>
              <a:ext uri="{FF2B5EF4-FFF2-40B4-BE49-F238E27FC236}">
                <a16:creationId xmlns:a16="http://schemas.microsoft.com/office/drawing/2014/main" id="{A93E9D03-6E98-4C0F-AE35-75082D9195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5125781"/>
              </p:ext>
            </p:extLst>
          </p:nvPr>
        </p:nvGraphicFramePr>
        <p:xfrm>
          <a:off x="2402196" y="3465612"/>
          <a:ext cx="4973604" cy="1982334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1243401">
                  <a:extLst>
                    <a:ext uri="{9D8B030D-6E8A-4147-A177-3AD203B41FA5}">
                      <a16:colId xmlns:a16="http://schemas.microsoft.com/office/drawing/2014/main" val="489114326"/>
                    </a:ext>
                  </a:extLst>
                </a:gridCol>
                <a:gridCol w="1243401">
                  <a:extLst>
                    <a:ext uri="{9D8B030D-6E8A-4147-A177-3AD203B41FA5}">
                      <a16:colId xmlns:a16="http://schemas.microsoft.com/office/drawing/2014/main" val="1333723501"/>
                    </a:ext>
                  </a:extLst>
                </a:gridCol>
                <a:gridCol w="1243401">
                  <a:extLst>
                    <a:ext uri="{9D8B030D-6E8A-4147-A177-3AD203B41FA5}">
                      <a16:colId xmlns:a16="http://schemas.microsoft.com/office/drawing/2014/main" val="2509329309"/>
                    </a:ext>
                  </a:extLst>
                </a:gridCol>
                <a:gridCol w="1243401">
                  <a:extLst>
                    <a:ext uri="{9D8B030D-6E8A-4147-A177-3AD203B41FA5}">
                      <a16:colId xmlns:a16="http://schemas.microsoft.com/office/drawing/2014/main" val="3789855318"/>
                    </a:ext>
                  </a:extLst>
                </a:gridCol>
              </a:tblGrid>
              <a:tr h="660778"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090574"/>
                  </a:ext>
                </a:extLst>
              </a:tr>
              <a:tr h="660778"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3531387"/>
                  </a:ext>
                </a:extLst>
              </a:tr>
              <a:tr h="660778"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7905303"/>
                  </a:ext>
                </a:extLst>
              </a:tr>
            </a:tbl>
          </a:graphicData>
        </a:graphic>
      </p:graphicFrame>
      <p:sp>
        <p:nvSpPr>
          <p:cNvPr id="75" name="文字方塊 74">
            <a:extLst>
              <a:ext uri="{FF2B5EF4-FFF2-40B4-BE49-F238E27FC236}">
                <a16:creationId xmlns:a16="http://schemas.microsoft.com/office/drawing/2014/main" id="{DC4F03B3-B25A-4F2D-AB6A-3F69EF56E388}"/>
              </a:ext>
            </a:extLst>
          </p:cNvPr>
          <p:cNvSpPr txBox="1"/>
          <p:nvPr/>
        </p:nvSpPr>
        <p:spPr>
          <a:xfrm>
            <a:off x="2395895" y="3183283"/>
            <a:ext cx="12405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400" dirty="0">
                <a:solidFill>
                  <a:srgbClr val="000000"/>
                </a:solidFill>
              </a:rPr>
              <a:t>X1: Plaintiff </a:t>
            </a:r>
          </a:p>
        </p:txBody>
      </p:sp>
      <p:sp>
        <p:nvSpPr>
          <p:cNvPr id="76" name="文字方塊 75">
            <a:extLst>
              <a:ext uri="{FF2B5EF4-FFF2-40B4-BE49-F238E27FC236}">
                <a16:creationId xmlns:a16="http://schemas.microsoft.com/office/drawing/2014/main" id="{D7D5FC3B-C6B5-4E5C-8F36-D2A63198CBCA}"/>
              </a:ext>
            </a:extLst>
          </p:cNvPr>
          <p:cNvSpPr txBox="1"/>
          <p:nvPr/>
        </p:nvSpPr>
        <p:spPr>
          <a:xfrm>
            <a:off x="3645351" y="3183283"/>
            <a:ext cx="12405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400" dirty="0">
                <a:solidFill>
                  <a:srgbClr val="000000"/>
                </a:solidFill>
              </a:rPr>
              <a:t>X2: Defendant</a:t>
            </a:r>
          </a:p>
        </p:txBody>
      </p:sp>
      <p:sp>
        <p:nvSpPr>
          <p:cNvPr id="77" name="文字方塊 76">
            <a:extLst>
              <a:ext uri="{FF2B5EF4-FFF2-40B4-BE49-F238E27FC236}">
                <a16:creationId xmlns:a16="http://schemas.microsoft.com/office/drawing/2014/main" id="{7673D254-F436-4D36-826B-55A2152A551F}"/>
              </a:ext>
            </a:extLst>
          </p:cNvPr>
          <p:cNvSpPr txBox="1"/>
          <p:nvPr/>
        </p:nvSpPr>
        <p:spPr>
          <a:xfrm>
            <a:off x="4877578" y="3183283"/>
            <a:ext cx="12405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400" dirty="0">
                <a:solidFill>
                  <a:srgbClr val="000000"/>
                </a:solidFill>
              </a:rPr>
              <a:t>X3: Vicarious</a:t>
            </a:r>
          </a:p>
        </p:txBody>
      </p:sp>
      <p:sp>
        <p:nvSpPr>
          <p:cNvPr id="79" name="文字方塊 78">
            <a:extLst>
              <a:ext uri="{FF2B5EF4-FFF2-40B4-BE49-F238E27FC236}">
                <a16:creationId xmlns:a16="http://schemas.microsoft.com/office/drawing/2014/main" id="{3B312815-6F8B-482B-BF8D-E062767500FD}"/>
              </a:ext>
            </a:extLst>
          </p:cNvPr>
          <p:cNvSpPr txBox="1"/>
          <p:nvPr/>
        </p:nvSpPr>
        <p:spPr>
          <a:xfrm>
            <a:off x="6079435" y="3183283"/>
            <a:ext cx="13342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400" dirty="0">
                <a:solidFill>
                  <a:srgbClr val="000000"/>
                </a:solidFill>
              </a:rPr>
              <a:t>X4: External</a:t>
            </a:r>
          </a:p>
        </p:txBody>
      </p:sp>
      <p:sp>
        <p:nvSpPr>
          <p:cNvPr id="66" name="矩形: 圓角 65">
            <a:extLst>
              <a:ext uri="{FF2B5EF4-FFF2-40B4-BE49-F238E27FC236}">
                <a16:creationId xmlns:a16="http://schemas.microsoft.com/office/drawing/2014/main" id="{507D1B4F-E55E-44E3-AAFA-2450CFD48656}"/>
              </a:ext>
            </a:extLst>
          </p:cNvPr>
          <p:cNvSpPr/>
          <p:nvPr/>
        </p:nvSpPr>
        <p:spPr bwMode="auto">
          <a:xfrm>
            <a:off x="3646280" y="3459618"/>
            <a:ext cx="1233008" cy="672313"/>
          </a:xfrm>
          <a:prstGeom prst="roundRect">
            <a:avLst>
              <a:gd name="adj" fmla="val 0"/>
            </a:avLst>
          </a:prstGeom>
          <a:solidFill>
            <a:srgbClr val="F9ECE6"/>
          </a:solidFill>
          <a:ln w="38100" cap="flat" cmpd="sng" algn="ctr">
            <a:solidFill>
              <a:srgbClr val="E2A38A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962AAAFD-23CD-48BE-BEE9-54E11FAD041E}"/>
              </a:ext>
            </a:extLst>
          </p:cNvPr>
          <p:cNvSpPr txBox="1"/>
          <p:nvPr/>
        </p:nvSpPr>
        <p:spPr>
          <a:xfrm>
            <a:off x="3943558" y="3629963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000000"/>
                </a:solidFill>
              </a:rPr>
              <a:t>[0.8]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68" name="矩形: 圓角 67">
            <a:extLst>
              <a:ext uri="{FF2B5EF4-FFF2-40B4-BE49-F238E27FC236}">
                <a16:creationId xmlns:a16="http://schemas.microsoft.com/office/drawing/2014/main" id="{4CA03A84-DE0E-41A8-BFE1-BC2DE2D8DF6A}"/>
              </a:ext>
            </a:extLst>
          </p:cNvPr>
          <p:cNvSpPr/>
          <p:nvPr/>
        </p:nvSpPr>
        <p:spPr bwMode="auto">
          <a:xfrm>
            <a:off x="2407393" y="4120185"/>
            <a:ext cx="1233008" cy="672313"/>
          </a:xfrm>
          <a:prstGeom prst="roundRect">
            <a:avLst>
              <a:gd name="adj" fmla="val 0"/>
            </a:avLst>
          </a:prstGeom>
          <a:solidFill>
            <a:srgbClr val="D6E8D5"/>
          </a:solidFill>
          <a:ln w="38100" cap="flat" cmpd="sng" algn="ctr">
            <a:solidFill>
              <a:srgbClr val="85D383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BA056137-8F28-458A-84D4-FDEC290CA543}"/>
              </a:ext>
            </a:extLst>
          </p:cNvPr>
          <p:cNvSpPr txBox="1"/>
          <p:nvPr/>
        </p:nvSpPr>
        <p:spPr>
          <a:xfrm>
            <a:off x="2698365" y="4290032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000000"/>
                </a:solidFill>
              </a:rPr>
              <a:t>[0.6]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70" name="矩形: 圓角 69">
            <a:extLst>
              <a:ext uri="{FF2B5EF4-FFF2-40B4-BE49-F238E27FC236}">
                <a16:creationId xmlns:a16="http://schemas.microsoft.com/office/drawing/2014/main" id="{37D1AC6A-CC5C-44B6-9698-7F96C4FCF48E}"/>
              </a:ext>
            </a:extLst>
          </p:cNvPr>
          <p:cNvSpPr/>
          <p:nvPr/>
        </p:nvSpPr>
        <p:spPr bwMode="auto">
          <a:xfrm>
            <a:off x="3657855" y="4772843"/>
            <a:ext cx="1233008" cy="672313"/>
          </a:xfrm>
          <a:prstGeom prst="roundRect">
            <a:avLst>
              <a:gd name="adj" fmla="val 0"/>
            </a:avLst>
          </a:prstGeom>
          <a:solidFill>
            <a:srgbClr val="B9E1FF"/>
          </a:solidFill>
          <a:ln w="38100" cap="flat" cmpd="sng" algn="ctr">
            <a:solidFill>
              <a:srgbClr val="79C6FF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E7B6D3ED-E247-4B70-9B6E-70DE4DA5D9F6}"/>
              </a:ext>
            </a:extLst>
          </p:cNvPr>
          <p:cNvSpPr txBox="1"/>
          <p:nvPr/>
        </p:nvSpPr>
        <p:spPr>
          <a:xfrm>
            <a:off x="3943558" y="4941020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000000"/>
                </a:solidFill>
              </a:rPr>
              <a:t>[0.5]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88" name="文字方塊 87">
            <a:extLst>
              <a:ext uri="{FF2B5EF4-FFF2-40B4-BE49-F238E27FC236}">
                <a16:creationId xmlns:a16="http://schemas.microsoft.com/office/drawing/2014/main" id="{C4981A6F-F82D-4449-8429-21832777E951}"/>
              </a:ext>
            </a:extLst>
          </p:cNvPr>
          <p:cNvSpPr txBox="1"/>
          <p:nvPr/>
        </p:nvSpPr>
        <p:spPr>
          <a:xfrm>
            <a:off x="2784927" y="3629963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000000"/>
                </a:solidFill>
              </a:rPr>
              <a:t>[0]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89" name="文字方塊 88">
            <a:extLst>
              <a:ext uri="{FF2B5EF4-FFF2-40B4-BE49-F238E27FC236}">
                <a16:creationId xmlns:a16="http://schemas.microsoft.com/office/drawing/2014/main" id="{A60DC2FA-BCA2-49B6-AA36-605A4B98CA11}"/>
              </a:ext>
            </a:extLst>
          </p:cNvPr>
          <p:cNvSpPr txBox="1"/>
          <p:nvPr/>
        </p:nvSpPr>
        <p:spPr>
          <a:xfrm>
            <a:off x="2784927" y="4941020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000000"/>
                </a:solidFill>
              </a:rPr>
              <a:t>[0]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91" name="文字方塊 90">
            <a:extLst>
              <a:ext uri="{FF2B5EF4-FFF2-40B4-BE49-F238E27FC236}">
                <a16:creationId xmlns:a16="http://schemas.microsoft.com/office/drawing/2014/main" id="{1CE68F4D-F649-44CF-96E8-8D94522BA4C1}"/>
              </a:ext>
            </a:extLst>
          </p:cNvPr>
          <p:cNvSpPr txBox="1"/>
          <p:nvPr/>
        </p:nvSpPr>
        <p:spPr>
          <a:xfrm>
            <a:off x="4030120" y="4290032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000000"/>
                </a:solidFill>
              </a:rPr>
              <a:t>[0]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94" name="文字方塊 93">
            <a:extLst>
              <a:ext uri="{FF2B5EF4-FFF2-40B4-BE49-F238E27FC236}">
                <a16:creationId xmlns:a16="http://schemas.microsoft.com/office/drawing/2014/main" id="{BDA90CDD-B2E2-49F0-A6B9-7FDDEBBE6EE9}"/>
              </a:ext>
            </a:extLst>
          </p:cNvPr>
          <p:cNvSpPr txBox="1"/>
          <p:nvPr/>
        </p:nvSpPr>
        <p:spPr>
          <a:xfrm>
            <a:off x="5298120" y="4941020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000000"/>
                </a:solidFill>
              </a:rPr>
              <a:t>[0]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95" name="文字方塊 94">
            <a:extLst>
              <a:ext uri="{FF2B5EF4-FFF2-40B4-BE49-F238E27FC236}">
                <a16:creationId xmlns:a16="http://schemas.microsoft.com/office/drawing/2014/main" id="{5BA40AEF-EEFC-481E-93F6-A7AF44A3AFBC}"/>
              </a:ext>
            </a:extLst>
          </p:cNvPr>
          <p:cNvSpPr txBox="1"/>
          <p:nvPr/>
        </p:nvSpPr>
        <p:spPr>
          <a:xfrm>
            <a:off x="5298120" y="4290032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000000"/>
                </a:solidFill>
              </a:rPr>
              <a:t>[0]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96" name="文字方塊 95">
            <a:extLst>
              <a:ext uri="{FF2B5EF4-FFF2-40B4-BE49-F238E27FC236}">
                <a16:creationId xmlns:a16="http://schemas.microsoft.com/office/drawing/2014/main" id="{A221A88E-6DB8-45CC-BB43-CE4C1421C640}"/>
              </a:ext>
            </a:extLst>
          </p:cNvPr>
          <p:cNvSpPr txBox="1"/>
          <p:nvPr/>
        </p:nvSpPr>
        <p:spPr>
          <a:xfrm>
            <a:off x="5298120" y="3629963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000000"/>
                </a:solidFill>
              </a:rPr>
              <a:t>[0]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97" name="文字方塊 96">
            <a:extLst>
              <a:ext uri="{FF2B5EF4-FFF2-40B4-BE49-F238E27FC236}">
                <a16:creationId xmlns:a16="http://schemas.microsoft.com/office/drawing/2014/main" id="{AECE7DE8-EDB8-45A9-942E-3C793FE2EEEC}"/>
              </a:ext>
            </a:extLst>
          </p:cNvPr>
          <p:cNvSpPr txBox="1"/>
          <p:nvPr/>
        </p:nvSpPr>
        <p:spPr>
          <a:xfrm>
            <a:off x="6517067" y="3629963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000000"/>
                </a:solidFill>
              </a:rPr>
              <a:t>[0]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98" name="文字方塊 97">
            <a:extLst>
              <a:ext uri="{FF2B5EF4-FFF2-40B4-BE49-F238E27FC236}">
                <a16:creationId xmlns:a16="http://schemas.microsoft.com/office/drawing/2014/main" id="{3E4D9C2E-F834-49F5-8419-876367F5A8EB}"/>
              </a:ext>
            </a:extLst>
          </p:cNvPr>
          <p:cNvSpPr txBox="1"/>
          <p:nvPr/>
        </p:nvSpPr>
        <p:spPr>
          <a:xfrm>
            <a:off x="6517067" y="4290032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000000"/>
                </a:solidFill>
              </a:rPr>
              <a:t>[0]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73" name="文字方塊 72">
            <a:extLst>
              <a:ext uri="{FF2B5EF4-FFF2-40B4-BE49-F238E27FC236}">
                <a16:creationId xmlns:a16="http://schemas.microsoft.com/office/drawing/2014/main" id="{47D3A0A2-5E6E-4C81-A6E3-F20E2A4E5104}"/>
              </a:ext>
            </a:extLst>
          </p:cNvPr>
          <p:cNvSpPr txBox="1"/>
          <p:nvPr/>
        </p:nvSpPr>
        <p:spPr>
          <a:xfrm>
            <a:off x="1634768" y="5719469"/>
            <a:ext cx="4973603" cy="400110"/>
          </a:xfrm>
          <a:prstGeom prst="rect">
            <a:avLst/>
          </a:prstGeom>
          <a:solidFill>
            <a:srgbClr val="ECF6FE"/>
          </a:solidFill>
          <a:ln>
            <a:solidFill>
              <a:srgbClr val="B0BBE5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sz="2000" b="1" dirty="0">
                <a:solidFill>
                  <a:srgbClr val="000000"/>
                </a:solidFill>
              </a:rPr>
              <a:t>Tensor: [0, 1, 0, 1, 0, 0.8, 0, 0, 0.6, 0, 0... -0.2]</a:t>
            </a:r>
          </a:p>
        </p:txBody>
      </p:sp>
      <p:sp>
        <p:nvSpPr>
          <p:cNvPr id="203" name="矩形: 圓角 202">
            <a:extLst>
              <a:ext uri="{FF2B5EF4-FFF2-40B4-BE49-F238E27FC236}">
                <a16:creationId xmlns:a16="http://schemas.microsoft.com/office/drawing/2014/main" id="{BA19E07D-5D45-40C8-8D17-64FBA1C79717}"/>
              </a:ext>
            </a:extLst>
          </p:cNvPr>
          <p:cNvSpPr/>
          <p:nvPr/>
        </p:nvSpPr>
        <p:spPr bwMode="auto">
          <a:xfrm>
            <a:off x="6142778" y="4772843"/>
            <a:ext cx="1233008" cy="672313"/>
          </a:xfrm>
          <a:prstGeom prst="roundRect">
            <a:avLst>
              <a:gd name="adj" fmla="val 0"/>
            </a:avLst>
          </a:prstGeom>
          <a:solidFill>
            <a:srgbClr val="B9E1FF"/>
          </a:solidFill>
          <a:ln w="38100" cap="flat" cmpd="sng" algn="ctr">
            <a:solidFill>
              <a:srgbClr val="79C6FF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74" name="文字方塊 73">
            <a:extLst>
              <a:ext uri="{FF2B5EF4-FFF2-40B4-BE49-F238E27FC236}">
                <a16:creationId xmlns:a16="http://schemas.microsoft.com/office/drawing/2014/main" id="{90EB33DE-4990-41B9-86B7-9D490CCDEDB2}"/>
              </a:ext>
            </a:extLst>
          </p:cNvPr>
          <p:cNvSpPr txBox="1"/>
          <p:nvPr/>
        </p:nvSpPr>
        <p:spPr>
          <a:xfrm>
            <a:off x="6392033" y="4941020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000000"/>
                </a:solidFill>
              </a:rPr>
              <a:t>[-0.2]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2931C4DC-31CA-4677-847E-EBF989AE1C13}"/>
              </a:ext>
            </a:extLst>
          </p:cNvPr>
          <p:cNvSpPr txBox="1"/>
          <p:nvPr/>
        </p:nvSpPr>
        <p:spPr>
          <a:xfrm>
            <a:off x="3480050" y="1015123"/>
            <a:ext cx="26644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solidFill>
                  <a:srgbClr val="000000"/>
                </a:solidFill>
              </a:rPr>
              <a:t>Litigant Configuration</a:t>
            </a: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D83F39AD-6390-469E-A8C8-610E6020250E}"/>
              </a:ext>
            </a:extLst>
          </p:cNvPr>
          <p:cNvSpPr txBox="1"/>
          <p:nvPr/>
        </p:nvSpPr>
        <p:spPr>
          <a:xfrm>
            <a:off x="3691371" y="2864630"/>
            <a:ext cx="23952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solidFill>
                  <a:srgbClr val="000000"/>
                </a:solidFill>
              </a:rPr>
              <a:t>Feature Matrix</a:t>
            </a:r>
          </a:p>
        </p:txBody>
      </p:sp>
      <p:sp>
        <p:nvSpPr>
          <p:cNvPr id="164" name="文字方塊 163">
            <a:extLst>
              <a:ext uri="{FF2B5EF4-FFF2-40B4-BE49-F238E27FC236}">
                <a16:creationId xmlns:a16="http://schemas.microsoft.com/office/drawing/2014/main" id="{735BF496-F37F-4547-8060-CCAD1673C8B4}"/>
              </a:ext>
            </a:extLst>
          </p:cNvPr>
          <p:cNvSpPr txBox="1"/>
          <p:nvPr/>
        </p:nvSpPr>
        <p:spPr>
          <a:xfrm>
            <a:off x="903863" y="4984562"/>
            <a:ext cx="15406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400" dirty="0">
                <a:solidFill>
                  <a:srgbClr val="000000"/>
                </a:solidFill>
              </a:rPr>
              <a:t>Y3: Compensation</a:t>
            </a:r>
          </a:p>
        </p:txBody>
      </p:sp>
      <p:cxnSp>
        <p:nvCxnSpPr>
          <p:cNvPr id="37" name="接點: 弧形 36">
            <a:extLst>
              <a:ext uri="{FF2B5EF4-FFF2-40B4-BE49-F238E27FC236}">
                <a16:creationId xmlns:a16="http://schemas.microsoft.com/office/drawing/2014/main" id="{6AC0CB98-C496-4E91-93B9-5F5708B4A32B}"/>
              </a:ext>
            </a:extLst>
          </p:cNvPr>
          <p:cNvCxnSpPr>
            <a:cxnSpLocks/>
            <a:stCxn id="465" idx="2"/>
          </p:cNvCxnSpPr>
          <p:nvPr/>
        </p:nvCxnSpPr>
        <p:spPr bwMode="auto">
          <a:xfrm>
            <a:off x="44379" y="2899716"/>
            <a:ext cx="2383208" cy="616592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15875" cap="flat" cmpd="sng" algn="ctr">
            <a:solidFill>
              <a:srgbClr val="6B6DC3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37" name="接點: 弧形 636">
            <a:extLst>
              <a:ext uri="{FF2B5EF4-FFF2-40B4-BE49-F238E27FC236}">
                <a16:creationId xmlns:a16="http://schemas.microsoft.com/office/drawing/2014/main" id="{D388CE5F-0675-4D59-8C32-CD2FC3766F17}"/>
              </a:ext>
            </a:extLst>
          </p:cNvPr>
          <p:cNvCxnSpPr>
            <a:cxnSpLocks/>
            <a:stCxn id="465" idx="2"/>
          </p:cNvCxnSpPr>
          <p:nvPr/>
        </p:nvCxnSpPr>
        <p:spPr bwMode="auto">
          <a:xfrm flipV="1">
            <a:off x="44379" y="1951392"/>
            <a:ext cx="2403654" cy="948324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15875" cap="flat" cmpd="sng" algn="ctr">
            <a:solidFill>
              <a:srgbClr val="6B6DC3"/>
            </a:solidFill>
            <a:prstDash val="solid"/>
            <a:round/>
            <a:headEnd type="none"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5" name="手繪多邊形: 圖案 464">
                <a:extLst>
                  <a:ext uri="{FF2B5EF4-FFF2-40B4-BE49-F238E27FC236}">
                    <a16:creationId xmlns:a16="http://schemas.microsoft.com/office/drawing/2014/main" id="{A8230267-BE60-4517-B8B8-DE1E91313F7B}"/>
                  </a:ext>
                </a:extLst>
              </p:cNvPr>
              <p:cNvSpPr/>
              <p:nvPr/>
            </p:nvSpPr>
            <p:spPr>
              <a:xfrm>
                <a:off x="44379" y="2621784"/>
                <a:ext cx="555863" cy="555863"/>
              </a:xfrm>
              <a:custGeom>
                <a:avLst/>
                <a:gdLst>
                  <a:gd name="connsiteX0" fmla="*/ 300234 w 300234"/>
                  <a:gd name="connsiteY0" fmla="*/ 150117 h 300234"/>
                  <a:gd name="connsiteX1" fmla="*/ 150117 w 300234"/>
                  <a:gd name="connsiteY1" fmla="*/ 300234 h 300234"/>
                  <a:gd name="connsiteX2" fmla="*/ 0 w 300234"/>
                  <a:gd name="connsiteY2" fmla="*/ 150117 h 300234"/>
                  <a:gd name="connsiteX3" fmla="*/ 150117 w 300234"/>
                  <a:gd name="connsiteY3" fmla="*/ 0 h 300234"/>
                  <a:gd name="connsiteX4" fmla="*/ 300234 w 300234"/>
                  <a:gd name="connsiteY4" fmla="*/ 150117 h 3002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0234" h="300234">
                    <a:moveTo>
                      <a:pt x="300234" y="150117"/>
                    </a:moveTo>
                    <a:cubicBezTo>
                      <a:pt x="300234" y="233024"/>
                      <a:pt x="233024" y="300234"/>
                      <a:pt x="150117" y="300234"/>
                    </a:cubicBezTo>
                    <a:cubicBezTo>
                      <a:pt x="67210" y="300234"/>
                      <a:pt x="0" y="233024"/>
                      <a:pt x="0" y="150117"/>
                    </a:cubicBezTo>
                    <a:cubicBezTo>
                      <a:pt x="0" y="67210"/>
                      <a:pt x="67210" y="0"/>
                      <a:pt x="150117" y="0"/>
                    </a:cubicBezTo>
                    <a:cubicBezTo>
                      <a:pt x="233025" y="0"/>
                      <a:pt x="300234" y="67210"/>
                      <a:pt x="300234" y="150117"/>
                    </a:cubicBezTo>
                    <a:close/>
                  </a:path>
                </a:pathLst>
              </a:custGeom>
              <a:solidFill>
                <a:srgbClr val="D6D7EE"/>
              </a:solidFill>
              <a:ln w="9525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TW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TW" altLang="en-US" sz="1200" i="1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465" name="手繪多邊形: 圖案 464">
                <a:extLst>
                  <a:ext uri="{FF2B5EF4-FFF2-40B4-BE49-F238E27FC236}">
                    <a16:creationId xmlns:a16="http://schemas.microsoft.com/office/drawing/2014/main" id="{A8230267-BE60-4517-B8B8-DE1E91313F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79" y="2621784"/>
                <a:ext cx="555863" cy="555863"/>
              </a:xfrm>
              <a:custGeom>
                <a:avLst/>
                <a:gdLst>
                  <a:gd name="connsiteX0" fmla="*/ 300234 w 300234"/>
                  <a:gd name="connsiteY0" fmla="*/ 150117 h 300234"/>
                  <a:gd name="connsiteX1" fmla="*/ 150117 w 300234"/>
                  <a:gd name="connsiteY1" fmla="*/ 300234 h 300234"/>
                  <a:gd name="connsiteX2" fmla="*/ 0 w 300234"/>
                  <a:gd name="connsiteY2" fmla="*/ 150117 h 300234"/>
                  <a:gd name="connsiteX3" fmla="*/ 150117 w 300234"/>
                  <a:gd name="connsiteY3" fmla="*/ 0 h 300234"/>
                  <a:gd name="connsiteX4" fmla="*/ 300234 w 300234"/>
                  <a:gd name="connsiteY4" fmla="*/ 150117 h 3002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0234" h="300234">
                    <a:moveTo>
                      <a:pt x="300234" y="150117"/>
                    </a:moveTo>
                    <a:cubicBezTo>
                      <a:pt x="300234" y="233024"/>
                      <a:pt x="233024" y="300234"/>
                      <a:pt x="150117" y="300234"/>
                    </a:cubicBezTo>
                    <a:cubicBezTo>
                      <a:pt x="67210" y="300234"/>
                      <a:pt x="0" y="233024"/>
                      <a:pt x="0" y="150117"/>
                    </a:cubicBezTo>
                    <a:cubicBezTo>
                      <a:pt x="0" y="67210"/>
                      <a:pt x="67210" y="0"/>
                      <a:pt x="150117" y="0"/>
                    </a:cubicBezTo>
                    <a:cubicBezTo>
                      <a:pt x="233025" y="0"/>
                      <a:pt x="300234" y="67210"/>
                      <a:pt x="300234" y="150117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  <a:ln w="9525" cap="flat">
                <a:noFill/>
                <a:prstDash val="solid"/>
                <a:miter/>
              </a:ln>
              <a:effectLst/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0" name="直線接點 79">
            <a:extLst>
              <a:ext uri="{FF2B5EF4-FFF2-40B4-BE49-F238E27FC236}">
                <a16:creationId xmlns:a16="http://schemas.microsoft.com/office/drawing/2014/main" id="{45C086D8-63D9-4C1C-9169-467F2EBA03FB}"/>
              </a:ext>
            </a:extLst>
          </p:cNvPr>
          <p:cNvCxnSpPr>
            <a:cxnSpLocks/>
            <a:stCxn id="567" idx="2"/>
            <a:endCxn id="73" idx="0"/>
          </p:cNvCxnSpPr>
          <p:nvPr/>
        </p:nvCxnSpPr>
        <p:spPr bwMode="auto">
          <a:xfrm>
            <a:off x="4121569" y="5543056"/>
            <a:ext cx="1" cy="176413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rgbClr val="898989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733166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文字方塊 77">
            <a:extLst>
              <a:ext uri="{FF2B5EF4-FFF2-40B4-BE49-F238E27FC236}">
                <a16:creationId xmlns:a16="http://schemas.microsoft.com/office/drawing/2014/main" id="{01884AA4-4B66-4FD3-A3E3-51BEB06E8494}"/>
              </a:ext>
            </a:extLst>
          </p:cNvPr>
          <p:cNvSpPr txBox="1"/>
          <p:nvPr/>
        </p:nvSpPr>
        <p:spPr>
          <a:xfrm>
            <a:off x="430307" y="120876"/>
            <a:ext cx="117975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latin typeface="+mj-lt"/>
                <a:ea typeface="標楷體" panose="03000509000000000000" pitchFamily="65" charset="-120"/>
              </a:rPr>
              <a:t>Phase 2: Ontology Graph Construction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1A6FB48D-F61C-4C71-9D06-7BA212C5F86C}"/>
              </a:ext>
            </a:extLst>
          </p:cNvPr>
          <p:cNvSpPr/>
          <p:nvPr/>
        </p:nvSpPr>
        <p:spPr bwMode="auto">
          <a:xfrm>
            <a:off x="1995815" y="906949"/>
            <a:ext cx="5118273" cy="3654564"/>
          </a:xfrm>
          <a:prstGeom prst="roundRect">
            <a:avLst/>
          </a:prstGeom>
          <a:solidFill>
            <a:srgbClr val="ECF6FE"/>
          </a:solidFill>
          <a:ln w="127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7" name="矩形: 圓角 26">
            <a:extLst>
              <a:ext uri="{FF2B5EF4-FFF2-40B4-BE49-F238E27FC236}">
                <a16:creationId xmlns:a16="http://schemas.microsoft.com/office/drawing/2014/main" id="{0E5497BA-BEDE-4F57-A19A-29A5F201F209}"/>
              </a:ext>
            </a:extLst>
          </p:cNvPr>
          <p:cNvSpPr/>
          <p:nvPr/>
        </p:nvSpPr>
        <p:spPr bwMode="auto">
          <a:xfrm>
            <a:off x="7428189" y="906950"/>
            <a:ext cx="4042452" cy="50615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3C5EB431-6568-49AE-9B3A-CBEC0E203CB6}"/>
              </a:ext>
            </a:extLst>
          </p:cNvPr>
          <p:cNvSpPr txBox="1"/>
          <p:nvPr/>
        </p:nvSpPr>
        <p:spPr>
          <a:xfrm>
            <a:off x="7862937" y="906949"/>
            <a:ext cx="31830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600" dirty="0">
                <a:solidFill>
                  <a:srgbClr val="000000"/>
                </a:solidFill>
              </a:rPr>
              <a:t>Knowledge Graph </a:t>
            </a:r>
            <a:r>
              <a:rPr lang="en-US" altLang="zh-TW" sz="1600" dirty="0">
                <a:solidFill>
                  <a:srgbClr val="00B0F0"/>
                </a:solidFill>
              </a:rPr>
              <a:t>Neo4j</a:t>
            </a:r>
            <a:endParaRPr lang="zh-TW" altLang="en-US" sz="1600" dirty="0">
              <a:solidFill>
                <a:srgbClr val="00B0F0"/>
              </a:solidFill>
            </a:endParaRPr>
          </a:p>
        </p:txBody>
      </p:sp>
      <p:cxnSp>
        <p:nvCxnSpPr>
          <p:cNvPr id="89" name="接點: 肘形 88">
            <a:extLst>
              <a:ext uri="{FF2B5EF4-FFF2-40B4-BE49-F238E27FC236}">
                <a16:creationId xmlns:a16="http://schemas.microsoft.com/office/drawing/2014/main" id="{CC8D2174-E1F2-443B-BE6B-5F98932B1870}"/>
              </a:ext>
            </a:extLst>
          </p:cNvPr>
          <p:cNvCxnSpPr>
            <a:cxnSpLocks/>
            <a:stCxn id="75" idx="0"/>
            <a:endCxn id="47" idx="0"/>
          </p:cNvCxnSpPr>
          <p:nvPr/>
        </p:nvCxnSpPr>
        <p:spPr bwMode="auto">
          <a:xfrm rot="5400000">
            <a:off x="3314543" y="1924081"/>
            <a:ext cx="580925" cy="1913708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15875" cap="flat" cmpd="sng" algn="ctr">
            <a:solidFill>
              <a:schemeClr val="accent6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1" name="接點: 肘形 50">
            <a:extLst>
              <a:ext uri="{FF2B5EF4-FFF2-40B4-BE49-F238E27FC236}">
                <a16:creationId xmlns:a16="http://schemas.microsoft.com/office/drawing/2014/main" id="{F9084B74-A721-4770-9D94-FB974533330F}"/>
              </a:ext>
            </a:extLst>
          </p:cNvPr>
          <p:cNvCxnSpPr>
            <a:cxnSpLocks/>
            <a:stCxn id="75" idx="0"/>
            <a:endCxn id="49" idx="0"/>
          </p:cNvCxnSpPr>
          <p:nvPr/>
        </p:nvCxnSpPr>
        <p:spPr bwMode="auto">
          <a:xfrm rot="16200000" flipH="1">
            <a:off x="4540823" y="2611508"/>
            <a:ext cx="580925" cy="538853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15875" cap="flat" cmpd="sng" algn="ctr">
            <a:solidFill>
              <a:schemeClr val="accent6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74" name="群組 73">
            <a:extLst>
              <a:ext uri="{FF2B5EF4-FFF2-40B4-BE49-F238E27FC236}">
                <a16:creationId xmlns:a16="http://schemas.microsoft.com/office/drawing/2014/main" id="{25A51253-C003-4C1A-9A89-856FD23F10C1}"/>
              </a:ext>
            </a:extLst>
          </p:cNvPr>
          <p:cNvGrpSpPr/>
          <p:nvPr/>
        </p:nvGrpSpPr>
        <p:grpSpPr>
          <a:xfrm>
            <a:off x="4176001" y="1983314"/>
            <a:ext cx="770648" cy="628248"/>
            <a:chOff x="895522" y="3185117"/>
            <a:chExt cx="770648" cy="628248"/>
          </a:xfrm>
        </p:grpSpPr>
        <p:sp>
          <p:nvSpPr>
            <p:cNvPr id="75" name="流程圖: 人工輸入 74">
              <a:extLst>
                <a:ext uri="{FF2B5EF4-FFF2-40B4-BE49-F238E27FC236}">
                  <a16:creationId xmlns:a16="http://schemas.microsoft.com/office/drawing/2014/main" id="{2C07BE66-139E-4FC6-BDB5-E321ADEFCDC1}"/>
                </a:ext>
              </a:extLst>
            </p:cNvPr>
            <p:cNvSpPr/>
            <p:nvPr/>
          </p:nvSpPr>
          <p:spPr bwMode="auto">
            <a:xfrm rot="10800000" flipH="1">
              <a:off x="1188723" y="3602474"/>
              <a:ext cx="185314" cy="210891"/>
            </a:xfrm>
            <a:prstGeom prst="flowChartManualInpu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TW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76" name="梯形 75">
              <a:extLst>
                <a:ext uri="{FF2B5EF4-FFF2-40B4-BE49-F238E27FC236}">
                  <a16:creationId xmlns:a16="http://schemas.microsoft.com/office/drawing/2014/main" id="{8028E7E9-F446-42EA-B863-51C471709CFB}"/>
                </a:ext>
              </a:extLst>
            </p:cNvPr>
            <p:cNvSpPr/>
            <p:nvPr/>
          </p:nvSpPr>
          <p:spPr bwMode="auto">
            <a:xfrm rot="10800000">
              <a:off x="896060" y="3307530"/>
              <a:ext cx="769572" cy="306068"/>
            </a:xfrm>
            <a:prstGeom prst="trapezoid">
              <a:avLst>
                <a:gd name="adj" fmla="val 95966"/>
              </a:avLst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TW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77" name="橢圓 76">
              <a:extLst>
                <a:ext uri="{FF2B5EF4-FFF2-40B4-BE49-F238E27FC236}">
                  <a16:creationId xmlns:a16="http://schemas.microsoft.com/office/drawing/2014/main" id="{F94B7EEB-FEB5-479D-BA38-5F29B8186B5E}"/>
                </a:ext>
              </a:extLst>
            </p:cNvPr>
            <p:cNvSpPr/>
            <p:nvPr/>
          </p:nvSpPr>
          <p:spPr bwMode="auto">
            <a:xfrm>
              <a:off x="895522" y="3185117"/>
              <a:ext cx="770648" cy="2197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TW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79" name="橢圓 78">
              <a:extLst>
                <a:ext uri="{FF2B5EF4-FFF2-40B4-BE49-F238E27FC236}">
                  <a16:creationId xmlns:a16="http://schemas.microsoft.com/office/drawing/2014/main" id="{CC8910A3-1AC1-4CB2-B6DB-29EC14A15398}"/>
                </a:ext>
              </a:extLst>
            </p:cNvPr>
            <p:cNvSpPr/>
            <p:nvPr/>
          </p:nvSpPr>
          <p:spPr bwMode="auto">
            <a:xfrm>
              <a:off x="961124" y="3226586"/>
              <a:ext cx="639444" cy="136813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27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TW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82" name="流程圖: 人工輸入 81">
              <a:extLst>
                <a:ext uri="{FF2B5EF4-FFF2-40B4-BE49-F238E27FC236}">
                  <a16:creationId xmlns:a16="http://schemas.microsoft.com/office/drawing/2014/main" id="{56B56775-7514-4E30-9847-F3EEB2B9DE81}"/>
                </a:ext>
              </a:extLst>
            </p:cNvPr>
            <p:cNvSpPr/>
            <p:nvPr/>
          </p:nvSpPr>
          <p:spPr bwMode="auto">
            <a:xfrm rot="10800000">
              <a:off x="1205201" y="3598659"/>
              <a:ext cx="150826" cy="45719"/>
            </a:xfrm>
            <a:prstGeom prst="flowChartManualInpu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TW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88" name="流程圖: 人工作業 87">
              <a:extLst>
                <a:ext uri="{FF2B5EF4-FFF2-40B4-BE49-F238E27FC236}">
                  <a16:creationId xmlns:a16="http://schemas.microsoft.com/office/drawing/2014/main" id="{05AFF312-162B-4110-B987-28ACEBBB4977}"/>
                </a:ext>
              </a:extLst>
            </p:cNvPr>
            <p:cNvSpPr/>
            <p:nvPr/>
          </p:nvSpPr>
          <p:spPr bwMode="auto">
            <a:xfrm rot="2465979" flipH="1">
              <a:off x="1367084" y="3396764"/>
              <a:ext cx="51728" cy="234732"/>
            </a:xfrm>
            <a:prstGeom prst="flowChartManualOperation">
              <a:avLst/>
            </a:prstGeom>
            <a:solidFill>
              <a:schemeClr val="accent3">
                <a:lumMod val="95000"/>
              </a:schemeClr>
            </a:solidFill>
            <a:ln w="127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TW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</p:grpSp>
      <p:sp>
        <p:nvSpPr>
          <p:cNvPr id="90" name="文字方塊 89">
            <a:extLst>
              <a:ext uri="{FF2B5EF4-FFF2-40B4-BE49-F238E27FC236}">
                <a16:creationId xmlns:a16="http://schemas.microsoft.com/office/drawing/2014/main" id="{144D32E8-1404-4801-9866-FE2D82228A54}"/>
              </a:ext>
            </a:extLst>
          </p:cNvPr>
          <p:cNvSpPr txBox="1"/>
          <p:nvPr/>
        </p:nvSpPr>
        <p:spPr>
          <a:xfrm>
            <a:off x="483206" y="1141718"/>
            <a:ext cx="121189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0" i="1" dirty="0">
                <a:solidFill>
                  <a:srgbClr val="000000"/>
                </a:solidFill>
                <a:ea typeface="標楷體" panose="03000509000000000000" pitchFamily="65" charset="-120"/>
                <a:sym typeface="微軟正黑體"/>
                <a:rtl val="0"/>
              </a:rPr>
              <a:t>N</a:t>
            </a:r>
            <a:r>
              <a:rPr lang="en-US" altLang="zh-TW" b="0" dirty="0">
                <a:solidFill>
                  <a:srgbClr val="000000"/>
                </a:solidFill>
                <a:ea typeface="標楷體" panose="03000509000000000000" pitchFamily="65" charset="-120"/>
                <a:sym typeface="微軟正黑體"/>
                <a:rtl val="0"/>
              </a:rPr>
              <a:t> = </a:t>
            </a:r>
            <a:r>
              <a:rPr lang="en-US" altLang="zh-TW" spc="0" baseline="0" dirty="0">
                <a:solidFill>
                  <a:srgbClr val="000000"/>
                </a:solidFill>
                <a:ea typeface="標楷體" panose="03000509000000000000" pitchFamily="65" charset="-120"/>
                <a:sym typeface="微軟正黑體"/>
                <a:rtl val="0"/>
              </a:rPr>
              <a:t>6,057 </a:t>
            </a:r>
            <a:endParaRPr lang="zh-TW" altLang="en-US" spc="0" baseline="0" dirty="0">
              <a:solidFill>
                <a:srgbClr val="000000"/>
              </a:solidFill>
              <a:ea typeface="標楷體" panose="03000509000000000000" pitchFamily="65" charset="-120"/>
              <a:sym typeface="微軟正黑體"/>
              <a:rtl val="0"/>
            </a:endParaRPr>
          </a:p>
        </p:txBody>
      </p:sp>
      <p:grpSp>
        <p:nvGrpSpPr>
          <p:cNvPr id="230" name="群組 229">
            <a:extLst>
              <a:ext uri="{FF2B5EF4-FFF2-40B4-BE49-F238E27FC236}">
                <a16:creationId xmlns:a16="http://schemas.microsoft.com/office/drawing/2014/main" id="{A428B7DA-54BC-4219-BB76-7FB6B107D123}"/>
              </a:ext>
            </a:extLst>
          </p:cNvPr>
          <p:cNvGrpSpPr/>
          <p:nvPr/>
        </p:nvGrpSpPr>
        <p:grpSpPr>
          <a:xfrm>
            <a:off x="385678" y="1595688"/>
            <a:ext cx="1373008" cy="1405003"/>
            <a:chOff x="114281" y="1780618"/>
            <a:chExt cx="1139039" cy="1165582"/>
          </a:xfrm>
        </p:grpSpPr>
        <p:grpSp>
          <p:nvGrpSpPr>
            <p:cNvPr id="206" name="群組 205">
              <a:extLst>
                <a:ext uri="{FF2B5EF4-FFF2-40B4-BE49-F238E27FC236}">
                  <a16:creationId xmlns:a16="http://schemas.microsoft.com/office/drawing/2014/main" id="{A7C86F98-2E79-4B10-90B8-95389AAFD7F1}"/>
                </a:ext>
              </a:extLst>
            </p:cNvPr>
            <p:cNvGrpSpPr/>
            <p:nvPr/>
          </p:nvGrpSpPr>
          <p:grpSpPr>
            <a:xfrm>
              <a:off x="554578" y="1780618"/>
              <a:ext cx="698742" cy="700479"/>
              <a:chOff x="280892" y="5512616"/>
              <a:chExt cx="698742" cy="700479"/>
            </a:xfrm>
          </p:grpSpPr>
          <p:grpSp>
            <p:nvGrpSpPr>
              <p:cNvPr id="207" name="群組 206">
                <a:extLst>
                  <a:ext uri="{FF2B5EF4-FFF2-40B4-BE49-F238E27FC236}">
                    <a16:creationId xmlns:a16="http://schemas.microsoft.com/office/drawing/2014/main" id="{C31365CF-794B-4D34-8E99-5681E03BA73D}"/>
                  </a:ext>
                </a:extLst>
              </p:cNvPr>
              <p:cNvGrpSpPr/>
              <p:nvPr/>
            </p:nvGrpSpPr>
            <p:grpSpPr>
              <a:xfrm>
                <a:off x="280892" y="5997588"/>
                <a:ext cx="698742" cy="215507"/>
                <a:chOff x="298450" y="5522776"/>
                <a:chExt cx="698742" cy="215507"/>
              </a:xfrm>
            </p:grpSpPr>
            <p:sp>
              <p:nvSpPr>
                <p:cNvPr id="223" name="立方體 222">
                  <a:extLst>
                    <a:ext uri="{FF2B5EF4-FFF2-40B4-BE49-F238E27FC236}">
                      <a16:creationId xmlns:a16="http://schemas.microsoft.com/office/drawing/2014/main" id="{BF42B64F-7A9E-4452-9E21-3A6FFB9004AF}"/>
                    </a:ext>
                  </a:extLst>
                </p:cNvPr>
                <p:cNvSpPr/>
                <p:nvPr/>
              </p:nvSpPr>
              <p:spPr bwMode="auto">
                <a:xfrm>
                  <a:off x="298450" y="5522776"/>
                  <a:ext cx="215507" cy="215507"/>
                </a:xfrm>
                <a:prstGeom prst="cub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003065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TW" altLang="en-US" sz="20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</a:endParaRPr>
                </a:p>
              </p:txBody>
            </p:sp>
            <p:sp>
              <p:nvSpPr>
                <p:cNvPr id="224" name="立方體 223">
                  <a:extLst>
                    <a:ext uri="{FF2B5EF4-FFF2-40B4-BE49-F238E27FC236}">
                      <a16:creationId xmlns:a16="http://schemas.microsoft.com/office/drawing/2014/main" id="{0C40397D-8F71-4AD6-AE13-D2503F49C9DA}"/>
                    </a:ext>
                  </a:extLst>
                </p:cNvPr>
                <p:cNvSpPr/>
                <p:nvPr/>
              </p:nvSpPr>
              <p:spPr bwMode="auto">
                <a:xfrm>
                  <a:off x="459952" y="5522776"/>
                  <a:ext cx="215507" cy="215507"/>
                </a:xfrm>
                <a:prstGeom prst="cube">
                  <a:avLst/>
                </a:prstGeom>
                <a:solidFill>
                  <a:srgbClr val="79C6FF"/>
                </a:solidFill>
                <a:ln w="12700" cap="flat" cmpd="sng" algn="ctr">
                  <a:solidFill>
                    <a:srgbClr val="003065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TW" altLang="en-US" sz="20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</a:endParaRPr>
                </a:p>
              </p:txBody>
            </p:sp>
            <p:sp>
              <p:nvSpPr>
                <p:cNvPr id="225" name="立方體 224">
                  <a:extLst>
                    <a:ext uri="{FF2B5EF4-FFF2-40B4-BE49-F238E27FC236}">
                      <a16:creationId xmlns:a16="http://schemas.microsoft.com/office/drawing/2014/main" id="{6B27479B-C7B7-44EA-AF0C-A7BA48533759}"/>
                    </a:ext>
                  </a:extLst>
                </p:cNvPr>
                <p:cNvSpPr/>
                <p:nvPr/>
              </p:nvSpPr>
              <p:spPr bwMode="auto">
                <a:xfrm>
                  <a:off x="619549" y="5522776"/>
                  <a:ext cx="215507" cy="215507"/>
                </a:xfrm>
                <a:prstGeom prst="cub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003065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TW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</a:endParaRPr>
                </a:p>
              </p:txBody>
            </p:sp>
            <p:sp>
              <p:nvSpPr>
                <p:cNvPr id="226" name="立方體 225">
                  <a:extLst>
                    <a:ext uri="{FF2B5EF4-FFF2-40B4-BE49-F238E27FC236}">
                      <a16:creationId xmlns:a16="http://schemas.microsoft.com/office/drawing/2014/main" id="{C5F213DF-5E9C-4C3E-98C7-1E3B0685B861}"/>
                    </a:ext>
                  </a:extLst>
                </p:cNvPr>
                <p:cNvSpPr/>
                <p:nvPr/>
              </p:nvSpPr>
              <p:spPr bwMode="auto">
                <a:xfrm>
                  <a:off x="781685" y="5522776"/>
                  <a:ext cx="215507" cy="215507"/>
                </a:xfrm>
                <a:prstGeom prst="cub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003065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TW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</a:endParaRPr>
                </a:p>
              </p:txBody>
            </p:sp>
          </p:grpSp>
          <p:grpSp>
            <p:nvGrpSpPr>
              <p:cNvPr id="208" name="群組 207">
                <a:extLst>
                  <a:ext uri="{FF2B5EF4-FFF2-40B4-BE49-F238E27FC236}">
                    <a16:creationId xmlns:a16="http://schemas.microsoft.com/office/drawing/2014/main" id="{ACB700D0-A82B-42BE-AB7E-6EAC76537119}"/>
                  </a:ext>
                </a:extLst>
              </p:cNvPr>
              <p:cNvGrpSpPr/>
              <p:nvPr/>
            </p:nvGrpSpPr>
            <p:grpSpPr>
              <a:xfrm>
                <a:off x="280892" y="5836567"/>
                <a:ext cx="698742" cy="215507"/>
                <a:chOff x="298450" y="5522776"/>
                <a:chExt cx="698742" cy="215507"/>
              </a:xfrm>
            </p:grpSpPr>
            <p:sp>
              <p:nvSpPr>
                <p:cNvPr id="219" name="立方體 218">
                  <a:extLst>
                    <a:ext uri="{FF2B5EF4-FFF2-40B4-BE49-F238E27FC236}">
                      <a16:creationId xmlns:a16="http://schemas.microsoft.com/office/drawing/2014/main" id="{65CEF3FA-EAFE-4A14-B95B-22F8BDA3BDE1}"/>
                    </a:ext>
                  </a:extLst>
                </p:cNvPr>
                <p:cNvSpPr/>
                <p:nvPr/>
              </p:nvSpPr>
              <p:spPr bwMode="auto">
                <a:xfrm>
                  <a:off x="298450" y="5522776"/>
                  <a:ext cx="215507" cy="215507"/>
                </a:xfrm>
                <a:prstGeom prst="cube">
                  <a:avLst/>
                </a:prstGeom>
                <a:solidFill>
                  <a:srgbClr val="85D383"/>
                </a:solidFill>
                <a:ln w="12700" cap="flat" cmpd="sng" algn="ctr">
                  <a:solidFill>
                    <a:srgbClr val="003065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TW" altLang="en-US" sz="20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</a:endParaRPr>
                </a:p>
              </p:txBody>
            </p:sp>
            <p:sp>
              <p:nvSpPr>
                <p:cNvPr id="220" name="立方體 219">
                  <a:extLst>
                    <a:ext uri="{FF2B5EF4-FFF2-40B4-BE49-F238E27FC236}">
                      <a16:creationId xmlns:a16="http://schemas.microsoft.com/office/drawing/2014/main" id="{42F6FA7F-67A3-45FB-854A-C629A10A96F2}"/>
                    </a:ext>
                  </a:extLst>
                </p:cNvPr>
                <p:cNvSpPr/>
                <p:nvPr/>
              </p:nvSpPr>
              <p:spPr bwMode="auto">
                <a:xfrm>
                  <a:off x="459952" y="5522776"/>
                  <a:ext cx="215507" cy="215507"/>
                </a:xfrm>
                <a:prstGeom prst="cub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003065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TW" altLang="en-US" sz="20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</a:endParaRPr>
                </a:p>
              </p:txBody>
            </p:sp>
            <p:sp>
              <p:nvSpPr>
                <p:cNvPr id="221" name="立方體 220">
                  <a:extLst>
                    <a:ext uri="{FF2B5EF4-FFF2-40B4-BE49-F238E27FC236}">
                      <a16:creationId xmlns:a16="http://schemas.microsoft.com/office/drawing/2014/main" id="{64A91F5A-F6FA-4897-B07A-136B380155C6}"/>
                    </a:ext>
                  </a:extLst>
                </p:cNvPr>
                <p:cNvSpPr/>
                <p:nvPr/>
              </p:nvSpPr>
              <p:spPr bwMode="auto">
                <a:xfrm>
                  <a:off x="619549" y="5522776"/>
                  <a:ext cx="215507" cy="215507"/>
                </a:xfrm>
                <a:prstGeom prst="cub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003065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TW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</a:endParaRPr>
                </a:p>
              </p:txBody>
            </p:sp>
            <p:sp>
              <p:nvSpPr>
                <p:cNvPr id="222" name="立方體 221">
                  <a:extLst>
                    <a:ext uri="{FF2B5EF4-FFF2-40B4-BE49-F238E27FC236}">
                      <a16:creationId xmlns:a16="http://schemas.microsoft.com/office/drawing/2014/main" id="{1490ADB1-B881-4CE9-BB7F-94D803AA0DEE}"/>
                    </a:ext>
                  </a:extLst>
                </p:cNvPr>
                <p:cNvSpPr/>
                <p:nvPr/>
              </p:nvSpPr>
              <p:spPr bwMode="auto">
                <a:xfrm>
                  <a:off x="781685" y="5522776"/>
                  <a:ext cx="215507" cy="215507"/>
                </a:xfrm>
                <a:prstGeom prst="cub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003065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TW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</a:endParaRPr>
                </a:p>
              </p:txBody>
            </p:sp>
          </p:grpSp>
          <p:grpSp>
            <p:nvGrpSpPr>
              <p:cNvPr id="209" name="群組 208">
                <a:extLst>
                  <a:ext uri="{FF2B5EF4-FFF2-40B4-BE49-F238E27FC236}">
                    <a16:creationId xmlns:a16="http://schemas.microsoft.com/office/drawing/2014/main" id="{DC7C64B2-5428-4019-9454-FEBB86B0BEB3}"/>
                  </a:ext>
                </a:extLst>
              </p:cNvPr>
              <p:cNvGrpSpPr/>
              <p:nvPr/>
            </p:nvGrpSpPr>
            <p:grpSpPr>
              <a:xfrm>
                <a:off x="280892" y="5673629"/>
                <a:ext cx="698742" cy="215507"/>
                <a:chOff x="298450" y="5522776"/>
                <a:chExt cx="698742" cy="215507"/>
              </a:xfrm>
            </p:grpSpPr>
            <p:sp>
              <p:nvSpPr>
                <p:cNvPr id="215" name="立方體 214">
                  <a:extLst>
                    <a:ext uri="{FF2B5EF4-FFF2-40B4-BE49-F238E27FC236}">
                      <a16:creationId xmlns:a16="http://schemas.microsoft.com/office/drawing/2014/main" id="{A1385970-F0D6-4369-B64F-BDE6E92AC3D7}"/>
                    </a:ext>
                  </a:extLst>
                </p:cNvPr>
                <p:cNvSpPr/>
                <p:nvPr/>
              </p:nvSpPr>
              <p:spPr bwMode="auto">
                <a:xfrm>
                  <a:off x="298450" y="5522776"/>
                  <a:ext cx="215507" cy="215507"/>
                </a:xfrm>
                <a:prstGeom prst="cub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003065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TW" altLang="en-US" sz="20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</a:endParaRPr>
                </a:p>
              </p:txBody>
            </p:sp>
            <p:sp>
              <p:nvSpPr>
                <p:cNvPr id="216" name="立方體 215">
                  <a:extLst>
                    <a:ext uri="{FF2B5EF4-FFF2-40B4-BE49-F238E27FC236}">
                      <a16:creationId xmlns:a16="http://schemas.microsoft.com/office/drawing/2014/main" id="{96FDA750-672F-48DB-AA7A-73380987A250}"/>
                    </a:ext>
                  </a:extLst>
                </p:cNvPr>
                <p:cNvSpPr/>
                <p:nvPr/>
              </p:nvSpPr>
              <p:spPr bwMode="auto">
                <a:xfrm>
                  <a:off x="459952" y="5522776"/>
                  <a:ext cx="215507" cy="215507"/>
                </a:xfrm>
                <a:prstGeom prst="cube">
                  <a:avLst/>
                </a:prstGeom>
                <a:solidFill>
                  <a:srgbClr val="F3D8CD"/>
                </a:solidFill>
                <a:ln w="12700" cap="flat" cmpd="sng" algn="ctr">
                  <a:solidFill>
                    <a:srgbClr val="003065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TW" altLang="en-US" sz="20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</a:endParaRPr>
                </a:p>
              </p:txBody>
            </p:sp>
            <p:sp>
              <p:nvSpPr>
                <p:cNvPr id="217" name="立方體 216">
                  <a:extLst>
                    <a:ext uri="{FF2B5EF4-FFF2-40B4-BE49-F238E27FC236}">
                      <a16:creationId xmlns:a16="http://schemas.microsoft.com/office/drawing/2014/main" id="{EBA8F8CC-6A5D-4869-8A6A-2F560DCB9953}"/>
                    </a:ext>
                  </a:extLst>
                </p:cNvPr>
                <p:cNvSpPr/>
                <p:nvPr/>
              </p:nvSpPr>
              <p:spPr bwMode="auto">
                <a:xfrm>
                  <a:off x="619549" y="5522776"/>
                  <a:ext cx="215507" cy="215507"/>
                </a:xfrm>
                <a:prstGeom prst="cub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003065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TW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</a:endParaRPr>
                </a:p>
              </p:txBody>
            </p:sp>
            <p:sp>
              <p:nvSpPr>
                <p:cNvPr id="218" name="立方體 217">
                  <a:extLst>
                    <a:ext uri="{FF2B5EF4-FFF2-40B4-BE49-F238E27FC236}">
                      <a16:creationId xmlns:a16="http://schemas.microsoft.com/office/drawing/2014/main" id="{B9B7DC36-557C-429E-8258-3BBD315509B1}"/>
                    </a:ext>
                  </a:extLst>
                </p:cNvPr>
                <p:cNvSpPr/>
                <p:nvPr/>
              </p:nvSpPr>
              <p:spPr bwMode="auto">
                <a:xfrm>
                  <a:off x="781685" y="5522776"/>
                  <a:ext cx="215507" cy="215507"/>
                </a:xfrm>
                <a:prstGeom prst="cube">
                  <a:avLst/>
                </a:prstGeom>
                <a:solidFill>
                  <a:srgbClr val="F3D8CD"/>
                </a:solidFill>
                <a:ln w="12700" cap="flat" cmpd="sng" algn="ctr">
                  <a:solidFill>
                    <a:srgbClr val="003065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TW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</a:endParaRPr>
                </a:p>
              </p:txBody>
            </p:sp>
          </p:grpSp>
          <p:grpSp>
            <p:nvGrpSpPr>
              <p:cNvPr id="210" name="群組 209">
                <a:extLst>
                  <a:ext uri="{FF2B5EF4-FFF2-40B4-BE49-F238E27FC236}">
                    <a16:creationId xmlns:a16="http://schemas.microsoft.com/office/drawing/2014/main" id="{C7987651-54D1-45FE-8935-21DF1DA5E26B}"/>
                  </a:ext>
                </a:extLst>
              </p:cNvPr>
              <p:cNvGrpSpPr/>
              <p:nvPr/>
            </p:nvGrpSpPr>
            <p:grpSpPr>
              <a:xfrm>
                <a:off x="280892" y="5512616"/>
                <a:ext cx="698742" cy="215507"/>
                <a:chOff x="298450" y="5522776"/>
                <a:chExt cx="698742" cy="215507"/>
              </a:xfrm>
            </p:grpSpPr>
            <p:sp>
              <p:nvSpPr>
                <p:cNvPr id="211" name="立方體 210">
                  <a:extLst>
                    <a:ext uri="{FF2B5EF4-FFF2-40B4-BE49-F238E27FC236}">
                      <a16:creationId xmlns:a16="http://schemas.microsoft.com/office/drawing/2014/main" id="{4EEAFFFC-35F4-46C5-8AB5-35A2608C8177}"/>
                    </a:ext>
                  </a:extLst>
                </p:cNvPr>
                <p:cNvSpPr/>
                <p:nvPr/>
              </p:nvSpPr>
              <p:spPr bwMode="auto">
                <a:xfrm>
                  <a:off x="298450" y="5522776"/>
                  <a:ext cx="215507" cy="215507"/>
                </a:xfrm>
                <a:prstGeom prst="cube">
                  <a:avLst/>
                </a:prstGeom>
                <a:solidFill>
                  <a:srgbClr val="ADAEDD"/>
                </a:solidFill>
                <a:ln w="12700" cap="flat" cmpd="sng" algn="ctr">
                  <a:solidFill>
                    <a:srgbClr val="003065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TW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</a:endParaRPr>
                </a:p>
              </p:txBody>
            </p:sp>
            <p:sp>
              <p:nvSpPr>
                <p:cNvPr id="212" name="立方體 211">
                  <a:extLst>
                    <a:ext uri="{FF2B5EF4-FFF2-40B4-BE49-F238E27FC236}">
                      <a16:creationId xmlns:a16="http://schemas.microsoft.com/office/drawing/2014/main" id="{345C8639-0780-4E7D-97E8-65466956E182}"/>
                    </a:ext>
                  </a:extLst>
                </p:cNvPr>
                <p:cNvSpPr/>
                <p:nvPr/>
              </p:nvSpPr>
              <p:spPr bwMode="auto">
                <a:xfrm>
                  <a:off x="459952" y="5522776"/>
                  <a:ext cx="215507" cy="215507"/>
                </a:xfrm>
                <a:prstGeom prst="cub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003065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TW" altLang="en-US" sz="20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</a:endParaRPr>
                </a:p>
              </p:txBody>
            </p:sp>
            <p:sp>
              <p:nvSpPr>
                <p:cNvPr id="213" name="立方體 212">
                  <a:extLst>
                    <a:ext uri="{FF2B5EF4-FFF2-40B4-BE49-F238E27FC236}">
                      <a16:creationId xmlns:a16="http://schemas.microsoft.com/office/drawing/2014/main" id="{D352B71E-7163-4561-AF98-3E8A0CEFE295}"/>
                    </a:ext>
                  </a:extLst>
                </p:cNvPr>
                <p:cNvSpPr/>
                <p:nvPr/>
              </p:nvSpPr>
              <p:spPr bwMode="auto">
                <a:xfrm>
                  <a:off x="619549" y="5522776"/>
                  <a:ext cx="215507" cy="215507"/>
                </a:xfrm>
                <a:prstGeom prst="cube">
                  <a:avLst/>
                </a:prstGeom>
                <a:solidFill>
                  <a:srgbClr val="ADAEDD"/>
                </a:solidFill>
                <a:ln w="12700" cap="flat" cmpd="sng" algn="ctr">
                  <a:solidFill>
                    <a:srgbClr val="003065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TW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</a:endParaRPr>
                </a:p>
              </p:txBody>
            </p:sp>
            <p:sp>
              <p:nvSpPr>
                <p:cNvPr id="214" name="立方體 213">
                  <a:extLst>
                    <a:ext uri="{FF2B5EF4-FFF2-40B4-BE49-F238E27FC236}">
                      <a16:creationId xmlns:a16="http://schemas.microsoft.com/office/drawing/2014/main" id="{9EC8A5D1-DEAE-435E-ABA6-32BBFEDE301C}"/>
                    </a:ext>
                  </a:extLst>
                </p:cNvPr>
                <p:cNvSpPr/>
                <p:nvPr/>
              </p:nvSpPr>
              <p:spPr bwMode="auto">
                <a:xfrm>
                  <a:off x="781685" y="5522776"/>
                  <a:ext cx="215507" cy="215507"/>
                </a:xfrm>
                <a:prstGeom prst="cub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003065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TW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</a:endParaRPr>
                </a:p>
              </p:txBody>
            </p:sp>
          </p:grpSp>
        </p:grpSp>
        <p:grpSp>
          <p:nvGrpSpPr>
            <p:cNvPr id="185" name="群組 184">
              <a:extLst>
                <a:ext uri="{FF2B5EF4-FFF2-40B4-BE49-F238E27FC236}">
                  <a16:creationId xmlns:a16="http://schemas.microsoft.com/office/drawing/2014/main" id="{A3DD428C-90EF-4CAC-A0D6-C7EC52206A15}"/>
                </a:ext>
              </a:extLst>
            </p:cNvPr>
            <p:cNvGrpSpPr/>
            <p:nvPr/>
          </p:nvGrpSpPr>
          <p:grpSpPr>
            <a:xfrm>
              <a:off x="250318" y="2068262"/>
              <a:ext cx="698742" cy="700479"/>
              <a:chOff x="280892" y="5512616"/>
              <a:chExt cx="698742" cy="700479"/>
            </a:xfrm>
          </p:grpSpPr>
          <p:grpSp>
            <p:nvGrpSpPr>
              <p:cNvPr id="186" name="群組 185">
                <a:extLst>
                  <a:ext uri="{FF2B5EF4-FFF2-40B4-BE49-F238E27FC236}">
                    <a16:creationId xmlns:a16="http://schemas.microsoft.com/office/drawing/2014/main" id="{0D284A22-A9CC-4C28-8773-2431BFB0A036}"/>
                  </a:ext>
                </a:extLst>
              </p:cNvPr>
              <p:cNvGrpSpPr/>
              <p:nvPr/>
            </p:nvGrpSpPr>
            <p:grpSpPr>
              <a:xfrm>
                <a:off x="280892" y="5997588"/>
                <a:ext cx="698742" cy="215507"/>
                <a:chOff x="298450" y="5522776"/>
                <a:chExt cx="698742" cy="215507"/>
              </a:xfrm>
            </p:grpSpPr>
            <p:sp>
              <p:nvSpPr>
                <p:cNvPr id="202" name="立方體 201">
                  <a:extLst>
                    <a:ext uri="{FF2B5EF4-FFF2-40B4-BE49-F238E27FC236}">
                      <a16:creationId xmlns:a16="http://schemas.microsoft.com/office/drawing/2014/main" id="{92DD4664-4F86-494F-AC5F-E970154F324A}"/>
                    </a:ext>
                  </a:extLst>
                </p:cNvPr>
                <p:cNvSpPr/>
                <p:nvPr/>
              </p:nvSpPr>
              <p:spPr bwMode="auto">
                <a:xfrm>
                  <a:off x="298450" y="5522776"/>
                  <a:ext cx="215507" cy="215507"/>
                </a:xfrm>
                <a:prstGeom prst="cub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003065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TW" altLang="en-US" sz="20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</a:endParaRPr>
                </a:p>
              </p:txBody>
            </p:sp>
            <p:sp>
              <p:nvSpPr>
                <p:cNvPr id="203" name="立方體 202">
                  <a:extLst>
                    <a:ext uri="{FF2B5EF4-FFF2-40B4-BE49-F238E27FC236}">
                      <a16:creationId xmlns:a16="http://schemas.microsoft.com/office/drawing/2014/main" id="{655A3F7C-1DA7-4BC0-800A-C47A8D5DD0B9}"/>
                    </a:ext>
                  </a:extLst>
                </p:cNvPr>
                <p:cNvSpPr/>
                <p:nvPr/>
              </p:nvSpPr>
              <p:spPr bwMode="auto">
                <a:xfrm>
                  <a:off x="459952" y="5522776"/>
                  <a:ext cx="215507" cy="215507"/>
                </a:xfrm>
                <a:prstGeom prst="cube">
                  <a:avLst/>
                </a:prstGeom>
                <a:solidFill>
                  <a:srgbClr val="79C6FF"/>
                </a:solidFill>
                <a:ln w="12700" cap="flat" cmpd="sng" algn="ctr">
                  <a:solidFill>
                    <a:srgbClr val="003065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TW" altLang="en-US" sz="20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</a:endParaRPr>
                </a:p>
              </p:txBody>
            </p:sp>
            <p:sp>
              <p:nvSpPr>
                <p:cNvPr id="204" name="立方體 203">
                  <a:extLst>
                    <a:ext uri="{FF2B5EF4-FFF2-40B4-BE49-F238E27FC236}">
                      <a16:creationId xmlns:a16="http://schemas.microsoft.com/office/drawing/2014/main" id="{2D1EE8AE-EE9D-4A9B-928C-6E4C0AF0F375}"/>
                    </a:ext>
                  </a:extLst>
                </p:cNvPr>
                <p:cNvSpPr/>
                <p:nvPr/>
              </p:nvSpPr>
              <p:spPr bwMode="auto">
                <a:xfrm>
                  <a:off x="619549" y="5522776"/>
                  <a:ext cx="215507" cy="215507"/>
                </a:xfrm>
                <a:prstGeom prst="cub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003065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TW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</a:endParaRPr>
                </a:p>
              </p:txBody>
            </p:sp>
            <p:sp>
              <p:nvSpPr>
                <p:cNvPr id="205" name="立方體 204">
                  <a:extLst>
                    <a:ext uri="{FF2B5EF4-FFF2-40B4-BE49-F238E27FC236}">
                      <a16:creationId xmlns:a16="http://schemas.microsoft.com/office/drawing/2014/main" id="{6BC7C2C5-938A-478A-BBE6-0C0B228CD97B}"/>
                    </a:ext>
                  </a:extLst>
                </p:cNvPr>
                <p:cNvSpPr/>
                <p:nvPr/>
              </p:nvSpPr>
              <p:spPr bwMode="auto">
                <a:xfrm>
                  <a:off x="781685" y="5522776"/>
                  <a:ext cx="215507" cy="215507"/>
                </a:xfrm>
                <a:prstGeom prst="cub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003065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TW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</a:endParaRPr>
                </a:p>
              </p:txBody>
            </p:sp>
          </p:grpSp>
          <p:grpSp>
            <p:nvGrpSpPr>
              <p:cNvPr id="187" name="群組 186">
                <a:extLst>
                  <a:ext uri="{FF2B5EF4-FFF2-40B4-BE49-F238E27FC236}">
                    <a16:creationId xmlns:a16="http://schemas.microsoft.com/office/drawing/2014/main" id="{79D03458-4C56-4BA7-A9E5-55E24A658096}"/>
                  </a:ext>
                </a:extLst>
              </p:cNvPr>
              <p:cNvGrpSpPr/>
              <p:nvPr/>
            </p:nvGrpSpPr>
            <p:grpSpPr>
              <a:xfrm>
                <a:off x="280892" y="5836567"/>
                <a:ext cx="698742" cy="215507"/>
                <a:chOff x="298450" y="5522776"/>
                <a:chExt cx="698742" cy="215507"/>
              </a:xfrm>
            </p:grpSpPr>
            <p:sp>
              <p:nvSpPr>
                <p:cNvPr id="198" name="立方體 197">
                  <a:extLst>
                    <a:ext uri="{FF2B5EF4-FFF2-40B4-BE49-F238E27FC236}">
                      <a16:creationId xmlns:a16="http://schemas.microsoft.com/office/drawing/2014/main" id="{0BE51FFA-278E-4DF5-9D01-20F24838FC97}"/>
                    </a:ext>
                  </a:extLst>
                </p:cNvPr>
                <p:cNvSpPr/>
                <p:nvPr/>
              </p:nvSpPr>
              <p:spPr bwMode="auto">
                <a:xfrm>
                  <a:off x="298450" y="5522776"/>
                  <a:ext cx="215507" cy="215507"/>
                </a:xfrm>
                <a:prstGeom prst="cube">
                  <a:avLst/>
                </a:prstGeom>
                <a:solidFill>
                  <a:srgbClr val="85D383"/>
                </a:solidFill>
                <a:ln w="12700" cap="flat" cmpd="sng" algn="ctr">
                  <a:solidFill>
                    <a:srgbClr val="003065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TW" altLang="en-US" sz="20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</a:endParaRPr>
                </a:p>
              </p:txBody>
            </p:sp>
            <p:sp>
              <p:nvSpPr>
                <p:cNvPr id="199" name="立方體 198">
                  <a:extLst>
                    <a:ext uri="{FF2B5EF4-FFF2-40B4-BE49-F238E27FC236}">
                      <a16:creationId xmlns:a16="http://schemas.microsoft.com/office/drawing/2014/main" id="{49779658-E7AA-4D93-9855-0A2F8ACBC2D4}"/>
                    </a:ext>
                  </a:extLst>
                </p:cNvPr>
                <p:cNvSpPr/>
                <p:nvPr/>
              </p:nvSpPr>
              <p:spPr bwMode="auto">
                <a:xfrm>
                  <a:off x="459952" y="5522776"/>
                  <a:ext cx="215507" cy="215507"/>
                </a:xfrm>
                <a:prstGeom prst="cub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003065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TW" altLang="en-US" sz="20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</a:endParaRPr>
                </a:p>
              </p:txBody>
            </p:sp>
            <p:sp>
              <p:nvSpPr>
                <p:cNvPr id="200" name="立方體 199">
                  <a:extLst>
                    <a:ext uri="{FF2B5EF4-FFF2-40B4-BE49-F238E27FC236}">
                      <a16:creationId xmlns:a16="http://schemas.microsoft.com/office/drawing/2014/main" id="{C8C61193-A26D-4343-9C99-7FDA6471E78E}"/>
                    </a:ext>
                  </a:extLst>
                </p:cNvPr>
                <p:cNvSpPr/>
                <p:nvPr/>
              </p:nvSpPr>
              <p:spPr bwMode="auto">
                <a:xfrm>
                  <a:off x="619549" y="5522776"/>
                  <a:ext cx="215507" cy="215507"/>
                </a:xfrm>
                <a:prstGeom prst="cub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003065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TW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</a:endParaRPr>
                </a:p>
              </p:txBody>
            </p:sp>
            <p:sp>
              <p:nvSpPr>
                <p:cNvPr id="201" name="立方體 200">
                  <a:extLst>
                    <a:ext uri="{FF2B5EF4-FFF2-40B4-BE49-F238E27FC236}">
                      <a16:creationId xmlns:a16="http://schemas.microsoft.com/office/drawing/2014/main" id="{DF96C9D2-0D09-4A24-B87E-2C9F3D8F7935}"/>
                    </a:ext>
                  </a:extLst>
                </p:cNvPr>
                <p:cNvSpPr/>
                <p:nvPr/>
              </p:nvSpPr>
              <p:spPr bwMode="auto">
                <a:xfrm>
                  <a:off x="781685" y="5522776"/>
                  <a:ext cx="215507" cy="215507"/>
                </a:xfrm>
                <a:prstGeom prst="cube">
                  <a:avLst/>
                </a:prstGeom>
                <a:solidFill>
                  <a:srgbClr val="85D383"/>
                </a:solidFill>
                <a:ln w="12700" cap="flat" cmpd="sng" algn="ctr">
                  <a:solidFill>
                    <a:srgbClr val="003065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TW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</a:endParaRPr>
                </a:p>
              </p:txBody>
            </p:sp>
          </p:grpSp>
          <p:grpSp>
            <p:nvGrpSpPr>
              <p:cNvPr id="188" name="群組 187">
                <a:extLst>
                  <a:ext uri="{FF2B5EF4-FFF2-40B4-BE49-F238E27FC236}">
                    <a16:creationId xmlns:a16="http://schemas.microsoft.com/office/drawing/2014/main" id="{8D5A6519-4C72-455A-AA80-91AA14CB08B8}"/>
                  </a:ext>
                </a:extLst>
              </p:cNvPr>
              <p:cNvGrpSpPr/>
              <p:nvPr/>
            </p:nvGrpSpPr>
            <p:grpSpPr>
              <a:xfrm>
                <a:off x="280892" y="5673629"/>
                <a:ext cx="698742" cy="215507"/>
                <a:chOff x="298450" y="5522776"/>
                <a:chExt cx="698742" cy="215507"/>
              </a:xfrm>
            </p:grpSpPr>
            <p:sp>
              <p:nvSpPr>
                <p:cNvPr id="194" name="立方體 193">
                  <a:extLst>
                    <a:ext uri="{FF2B5EF4-FFF2-40B4-BE49-F238E27FC236}">
                      <a16:creationId xmlns:a16="http://schemas.microsoft.com/office/drawing/2014/main" id="{02BD6A86-DE45-4B36-BC44-3E58367B72AD}"/>
                    </a:ext>
                  </a:extLst>
                </p:cNvPr>
                <p:cNvSpPr/>
                <p:nvPr/>
              </p:nvSpPr>
              <p:spPr bwMode="auto">
                <a:xfrm>
                  <a:off x="298450" y="5522776"/>
                  <a:ext cx="215507" cy="215507"/>
                </a:xfrm>
                <a:prstGeom prst="cub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003065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TW" altLang="en-US" sz="20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</a:endParaRPr>
                </a:p>
              </p:txBody>
            </p:sp>
            <p:sp>
              <p:nvSpPr>
                <p:cNvPr id="195" name="立方體 194">
                  <a:extLst>
                    <a:ext uri="{FF2B5EF4-FFF2-40B4-BE49-F238E27FC236}">
                      <a16:creationId xmlns:a16="http://schemas.microsoft.com/office/drawing/2014/main" id="{AF7413A1-D69C-457C-9187-991A3FC8AABD}"/>
                    </a:ext>
                  </a:extLst>
                </p:cNvPr>
                <p:cNvSpPr/>
                <p:nvPr/>
              </p:nvSpPr>
              <p:spPr bwMode="auto">
                <a:xfrm>
                  <a:off x="459952" y="5522776"/>
                  <a:ext cx="215507" cy="215507"/>
                </a:xfrm>
                <a:prstGeom prst="cub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003065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TW" altLang="en-US" sz="20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</a:endParaRPr>
                </a:p>
              </p:txBody>
            </p:sp>
            <p:sp>
              <p:nvSpPr>
                <p:cNvPr id="196" name="立方體 195">
                  <a:extLst>
                    <a:ext uri="{FF2B5EF4-FFF2-40B4-BE49-F238E27FC236}">
                      <a16:creationId xmlns:a16="http://schemas.microsoft.com/office/drawing/2014/main" id="{9BC0910E-4E85-458E-8842-7799EF29FD67}"/>
                    </a:ext>
                  </a:extLst>
                </p:cNvPr>
                <p:cNvSpPr/>
                <p:nvPr/>
              </p:nvSpPr>
              <p:spPr bwMode="auto">
                <a:xfrm>
                  <a:off x="619549" y="5522776"/>
                  <a:ext cx="215507" cy="215507"/>
                </a:xfrm>
                <a:prstGeom prst="cube">
                  <a:avLst/>
                </a:prstGeom>
                <a:solidFill>
                  <a:srgbClr val="F3D8CD"/>
                </a:solidFill>
                <a:ln w="12700" cap="flat" cmpd="sng" algn="ctr">
                  <a:solidFill>
                    <a:srgbClr val="003065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TW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</a:endParaRPr>
                </a:p>
              </p:txBody>
            </p:sp>
            <p:sp>
              <p:nvSpPr>
                <p:cNvPr id="197" name="立方體 196">
                  <a:extLst>
                    <a:ext uri="{FF2B5EF4-FFF2-40B4-BE49-F238E27FC236}">
                      <a16:creationId xmlns:a16="http://schemas.microsoft.com/office/drawing/2014/main" id="{96727583-D9E7-422A-915E-D5CD6D03D2D8}"/>
                    </a:ext>
                  </a:extLst>
                </p:cNvPr>
                <p:cNvSpPr/>
                <p:nvPr/>
              </p:nvSpPr>
              <p:spPr bwMode="auto">
                <a:xfrm>
                  <a:off x="781685" y="5522776"/>
                  <a:ext cx="215507" cy="215507"/>
                </a:xfrm>
                <a:prstGeom prst="cube">
                  <a:avLst/>
                </a:prstGeom>
                <a:solidFill>
                  <a:srgbClr val="F3D8CD"/>
                </a:solidFill>
                <a:ln w="12700" cap="flat" cmpd="sng" algn="ctr">
                  <a:solidFill>
                    <a:srgbClr val="003065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TW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</a:endParaRPr>
                </a:p>
              </p:txBody>
            </p:sp>
          </p:grpSp>
          <p:grpSp>
            <p:nvGrpSpPr>
              <p:cNvPr id="189" name="群組 188">
                <a:extLst>
                  <a:ext uri="{FF2B5EF4-FFF2-40B4-BE49-F238E27FC236}">
                    <a16:creationId xmlns:a16="http://schemas.microsoft.com/office/drawing/2014/main" id="{4224320B-81E0-4AA4-985F-EE0A361ADBCF}"/>
                  </a:ext>
                </a:extLst>
              </p:cNvPr>
              <p:cNvGrpSpPr/>
              <p:nvPr/>
            </p:nvGrpSpPr>
            <p:grpSpPr>
              <a:xfrm>
                <a:off x="280892" y="5512616"/>
                <a:ext cx="698742" cy="215507"/>
                <a:chOff x="298450" y="5522776"/>
                <a:chExt cx="698742" cy="215507"/>
              </a:xfrm>
            </p:grpSpPr>
            <p:sp>
              <p:nvSpPr>
                <p:cNvPr id="190" name="立方體 189">
                  <a:extLst>
                    <a:ext uri="{FF2B5EF4-FFF2-40B4-BE49-F238E27FC236}">
                      <a16:creationId xmlns:a16="http://schemas.microsoft.com/office/drawing/2014/main" id="{C97632D0-EB02-491F-A7D5-583CB93BFDC2}"/>
                    </a:ext>
                  </a:extLst>
                </p:cNvPr>
                <p:cNvSpPr/>
                <p:nvPr/>
              </p:nvSpPr>
              <p:spPr bwMode="auto">
                <a:xfrm>
                  <a:off x="298450" y="5522776"/>
                  <a:ext cx="215507" cy="215507"/>
                </a:xfrm>
                <a:prstGeom prst="cub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003065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TW" altLang="en-US" sz="20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</a:endParaRPr>
                </a:p>
              </p:txBody>
            </p:sp>
            <p:sp>
              <p:nvSpPr>
                <p:cNvPr id="191" name="立方體 190">
                  <a:extLst>
                    <a:ext uri="{FF2B5EF4-FFF2-40B4-BE49-F238E27FC236}">
                      <a16:creationId xmlns:a16="http://schemas.microsoft.com/office/drawing/2014/main" id="{2AD47B53-D6D1-47E7-99E6-16C2D936D955}"/>
                    </a:ext>
                  </a:extLst>
                </p:cNvPr>
                <p:cNvSpPr/>
                <p:nvPr/>
              </p:nvSpPr>
              <p:spPr bwMode="auto">
                <a:xfrm>
                  <a:off x="459952" y="5522776"/>
                  <a:ext cx="215507" cy="215507"/>
                </a:xfrm>
                <a:prstGeom prst="cube">
                  <a:avLst/>
                </a:prstGeom>
                <a:solidFill>
                  <a:srgbClr val="ADAEDD"/>
                </a:solidFill>
                <a:ln w="12700" cap="flat" cmpd="sng" algn="ctr">
                  <a:solidFill>
                    <a:srgbClr val="003065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TW" altLang="en-US" sz="20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</a:endParaRPr>
                </a:p>
              </p:txBody>
            </p:sp>
            <p:sp>
              <p:nvSpPr>
                <p:cNvPr id="192" name="立方體 191">
                  <a:extLst>
                    <a:ext uri="{FF2B5EF4-FFF2-40B4-BE49-F238E27FC236}">
                      <a16:creationId xmlns:a16="http://schemas.microsoft.com/office/drawing/2014/main" id="{8E71A608-B439-4516-BF37-18420D8B54C1}"/>
                    </a:ext>
                  </a:extLst>
                </p:cNvPr>
                <p:cNvSpPr/>
                <p:nvPr/>
              </p:nvSpPr>
              <p:spPr bwMode="auto">
                <a:xfrm>
                  <a:off x="619549" y="5522776"/>
                  <a:ext cx="215507" cy="215507"/>
                </a:xfrm>
                <a:prstGeom prst="cube">
                  <a:avLst/>
                </a:prstGeom>
                <a:solidFill>
                  <a:srgbClr val="ADAEDD"/>
                </a:solidFill>
                <a:ln w="12700" cap="flat" cmpd="sng" algn="ctr">
                  <a:solidFill>
                    <a:srgbClr val="003065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TW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</a:endParaRPr>
                </a:p>
              </p:txBody>
            </p:sp>
            <p:sp>
              <p:nvSpPr>
                <p:cNvPr id="193" name="立方體 192">
                  <a:extLst>
                    <a:ext uri="{FF2B5EF4-FFF2-40B4-BE49-F238E27FC236}">
                      <a16:creationId xmlns:a16="http://schemas.microsoft.com/office/drawing/2014/main" id="{5EAE8995-7266-4CB9-851F-FFC5F1D1AF29}"/>
                    </a:ext>
                  </a:extLst>
                </p:cNvPr>
                <p:cNvSpPr/>
                <p:nvPr/>
              </p:nvSpPr>
              <p:spPr bwMode="auto">
                <a:xfrm>
                  <a:off x="781685" y="5522776"/>
                  <a:ext cx="215507" cy="215507"/>
                </a:xfrm>
                <a:prstGeom prst="cub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003065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TW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</a:endParaRPr>
                </a:p>
              </p:txBody>
            </p:sp>
          </p:grpSp>
        </p:grpSp>
        <p:grpSp>
          <p:nvGrpSpPr>
            <p:cNvPr id="184" name="群組 183">
              <a:extLst>
                <a:ext uri="{FF2B5EF4-FFF2-40B4-BE49-F238E27FC236}">
                  <a16:creationId xmlns:a16="http://schemas.microsoft.com/office/drawing/2014/main" id="{93399C40-0B04-46D2-97A6-7B654EB7E282}"/>
                </a:ext>
              </a:extLst>
            </p:cNvPr>
            <p:cNvGrpSpPr/>
            <p:nvPr/>
          </p:nvGrpSpPr>
          <p:grpSpPr>
            <a:xfrm>
              <a:off x="114281" y="2245721"/>
              <a:ext cx="698742" cy="700479"/>
              <a:chOff x="280892" y="5512616"/>
              <a:chExt cx="698742" cy="700479"/>
            </a:xfrm>
          </p:grpSpPr>
          <p:grpSp>
            <p:nvGrpSpPr>
              <p:cNvPr id="175" name="群組 174">
                <a:extLst>
                  <a:ext uri="{FF2B5EF4-FFF2-40B4-BE49-F238E27FC236}">
                    <a16:creationId xmlns:a16="http://schemas.microsoft.com/office/drawing/2014/main" id="{50373C8C-08E2-4763-BBF4-FD8B1A5FFB5B}"/>
                  </a:ext>
                </a:extLst>
              </p:cNvPr>
              <p:cNvGrpSpPr/>
              <p:nvPr/>
            </p:nvGrpSpPr>
            <p:grpSpPr>
              <a:xfrm>
                <a:off x="280892" y="5997588"/>
                <a:ext cx="698742" cy="215507"/>
                <a:chOff x="298450" y="5522776"/>
                <a:chExt cx="698742" cy="215507"/>
              </a:xfrm>
            </p:grpSpPr>
            <p:sp>
              <p:nvSpPr>
                <p:cNvPr id="176" name="立方體 175">
                  <a:extLst>
                    <a:ext uri="{FF2B5EF4-FFF2-40B4-BE49-F238E27FC236}">
                      <a16:creationId xmlns:a16="http://schemas.microsoft.com/office/drawing/2014/main" id="{D99A2971-9365-42D5-9212-3DCDD29D74F2}"/>
                    </a:ext>
                  </a:extLst>
                </p:cNvPr>
                <p:cNvSpPr/>
                <p:nvPr/>
              </p:nvSpPr>
              <p:spPr bwMode="auto">
                <a:xfrm>
                  <a:off x="298450" y="5522776"/>
                  <a:ext cx="215507" cy="215507"/>
                </a:xfrm>
                <a:prstGeom prst="cub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003065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TW" altLang="en-US" sz="20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</a:endParaRPr>
                </a:p>
              </p:txBody>
            </p:sp>
            <p:sp>
              <p:nvSpPr>
                <p:cNvPr id="177" name="立方體 176">
                  <a:extLst>
                    <a:ext uri="{FF2B5EF4-FFF2-40B4-BE49-F238E27FC236}">
                      <a16:creationId xmlns:a16="http://schemas.microsoft.com/office/drawing/2014/main" id="{0272AA65-FF72-4350-A1E8-A9362F83698A}"/>
                    </a:ext>
                  </a:extLst>
                </p:cNvPr>
                <p:cNvSpPr/>
                <p:nvPr/>
              </p:nvSpPr>
              <p:spPr bwMode="auto">
                <a:xfrm>
                  <a:off x="459952" y="5522776"/>
                  <a:ext cx="215507" cy="215507"/>
                </a:xfrm>
                <a:prstGeom prst="cube">
                  <a:avLst/>
                </a:prstGeom>
                <a:solidFill>
                  <a:srgbClr val="79C6FF"/>
                </a:solidFill>
                <a:ln w="12700" cap="flat" cmpd="sng" algn="ctr">
                  <a:solidFill>
                    <a:srgbClr val="003065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TW" altLang="en-US" sz="20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</a:endParaRPr>
                </a:p>
              </p:txBody>
            </p:sp>
            <p:sp>
              <p:nvSpPr>
                <p:cNvPr id="178" name="立方體 177">
                  <a:extLst>
                    <a:ext uri="{FF2B5EF4-FFF2-40B4-BE49-F238E27FC236}">
                      <a16:creationId xmlns:a16="http://schemas.microsoft.com/office/drawing/2014/main" id="{CA1F721B-50B9-45E7-98DF-21BBD2285E39}"/>
                    </a:ext>
                  </a:extLst>
                </p:cNvPr>
                <p:cNvSpPr/>
                <p:nvPr/>
              </p:nvSpPr>
              <p:spPr bwMode="auto">
                <a:xfrm>
                  <a:off x="619549" y="5522776"/>
                  <a:ext cx="215507" cy="215507"/>
                </a:xfrm>
                <a:prstGeom prst="cub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003065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TW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</a:endParaRPr>
                </a:p>
              </p:txBody>
            </p:sp>
            <p:sp>
              <p:nvSpPr>
                <p:cNvPr id="179" name="立方體 178">
                  <a:extLst>
                    <a:ext uri="{FF2B5EF4-FFF2-40B4-BE49-F238E27FC236}">
                      <a16:creationId xmlns:a16="http://schemas.microsoft.com/office/drawing/2014/main" id="{77AB78C2-DBDD-4F66-A99B-F3CF959475CE}"/>
                    </a:ext>
                  </a:extLst>
                </p:cNvPr>
                <p:cNvSpPr/>
                <p:nvPr/>
              </p:nvSpPr>
              <p:spPr bwMode="auto">
                <a:xfrm>
                  <a:off x="781685" y="5522776"/>
                  <a:ext cx="215507" cy="215507"/>
                </a:xfrm>
                <a:prstGeom prst="cub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003065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TW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</a:endParaRPr>
                </a:p>
              </p:txBody>
            </p:sp>
          </p:grpSp>
          <p:grpSp>
            <p:nvGrpSpPr>
              <p:cNvPr id="168" name="群組 167">
                <a:extLst>
                  <a:ext uri="{FF2B5EF4-FFF2-40B4-BE49-F238E27FC236}">
                    <a16:creationId xmlns:a16="http://schemas.microsoft.com/office/drawing/2014/main" id="{BDB2DDAF-53CC-4E45-9499-D9DFC43AE3A2}"/>
                  </a:ext>
                </a:extLst>
              </p:cNvPr>
              <p:cNvGrpSpPr/>
              <p:nvPr/>
            </p:nvGrpSpPr>
            <p:grpSpPr>
              <a:xfrm>
                <a:off x="280892" y="5836567"/>
                <a:ext cx="698742" cy="215507"/>
                <a:chOff x="298450" y="5522776"/>
                <a:chExt cx="698742" cy="215507"/>
              </a:xfrm>
            </p:grpSpPr>
            <p:sp>
              <p:nvSpPr>
                <p:cNvPr id="170" name="立方體 169">
                  <a:extLst>
                    <a:ext uri="{FF2B5EF4-FFF2-40B4-BE49-F238E27FC236}">
                      <a16:creationId xmlns:a16="http://schemas.microsoft.com/office/drawing/2014/main" id="{FDFC9B22-3DD3-40A2-B88B-90440245F8AF}"/>
                    </a:ext>
                  </a:extLst>
                </p:cNvPr>
                <p:cNvSpPr/>
                <p:nvPr/>
              </p:nvSpPr>
              <p:spPr bwMode="auto">
                <a:xfrm>
                  <a:off x="298450" y="5522776"/>
                  <a:ext cx="215507" cy="215507"/>
                </a:xfrm>
                <a:prstGeom prst="cube">
                  <a:avLst/>
                </a:prstGeom>
                <a:solidFill>
                  <a:srgbClr val="85D383"/>
                </a:solidFill>
                <a:ln w="12700" cap="flat" cmpd="sng" algn="ctr">
                  <a:solidFill>
                    <a:srgbClr val="003065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TW" altLang="en-US" sz="20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</a:endParaRPr>
                </a:p>
              </p:txBody>
            </p:sp>
            <p:sp>
              <p:nvSpPr>
                <p:cNvPr id="171" name="立方體 170">
                  <a:extLst>
                    <a:ext uri="{FF2B5EF4-FFF2-40B4-BE49-F238E27FC236}">
                      <a16:creationId xmlns:a16="http://schemas.microsoft.com/office/drawing/2014/main" id="{E27E6774-DD6C-4BF3-A3D7-161BDB91FE28}"/>
                    </a:ext>
                  </a:extLst>
                </p:cNvPr>
                <p:cNvSpPr/>
                <p:nvPr/>
              </p:nvSpPr>
              <p:spPr bwMode="auto">
                <a:xfrm>
                  <a:off x="459952" y="5522776"/>
                  <a:ext cx="215507" cy="215507"/>
                </a:xfrm>
                <a:prstGeom prst="cub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003065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TW" altLang="en-US" sz="20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</a:endParaRPr>
                </a:p>
              </p:txBody>
            </p:sp>
            <p:sp>
              <p:nvSpPr>
                <p:cNvPr id="172" name="立方體 171">
                  <a:extLst>
                    <a:ext uri="{FF2B5EF4-FFF2-40B4-BE49-F238E27FC236}">
                      <a16:creationId xmlns:a16="http://schemas.microsoft.com/office/drawing/2014/main" id="{BBF016A5-F49C-49EE-A07B-F308EE9E33D2}"/>
                    </a:ext>
                  </a:extLst>
                </p:cNvPr>
                <p:cNvSpPr/>
                <p:nvPr/>
              </p:nvSpPr>
              <p:spPr bwMode="auto">
                <a:xfrm>
                  <a:off x="619549" y="5522776"/>
                  <a:ext cx="215507" cy="215507"/>
                </a:xfrm>
                <a:prstGeom prst="cub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003065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TW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</a:endParaRPr>
                </a:p>
              </p:txBody>
            </p:sp>
            <p:sp>
              <p:nvSpPr>
                <p:cNvPr id="173" name="立方體 172">
                  <a:extLst>
                    <a:ext uri="{FF2B5EF4-FFF2-40B4-BE49-F238E27FC236}">
                      <a16:creationId xmlns:a16="http://schemas.microsoft.com/office/drawing/2014/main" id="{3DDA17C2-87E9-4AB5-8BAD-5DDF773141D5}"/>
                    </a:ext>
                  </a:extLst>
                </p:cNvPr>
                <p:cNvSpPr/>
                <p:nvPr/>
              </p:nvSpPr>
              <p:spPr bwMode="auto">
                <a:xfrm>
                  <a:off x="781685" y="5522776"/>
                  <a:ext cx="215507" cy="215507"/>
                </a:xfrm>
                <a:prstGeom prst="cub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003065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TW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</a:endParaRPr>
                </a:p>
              </p:txBody>
            </p:sp>
          </p:grpSp>
          <p:grpSp>
            <p:nvGrpSpPr>
              <p:cNvPr id="158" name="群組 157">
                <a:extLst>
                  <a:ext uri="{FF2B5EF4-FFF2-40B4-BE49-F238E27FC236}">
                    <a16:creationId xmlns:a16="http://schemas.microsoft.com/office/drawing/2014/main" id="{8BE1DEA7-A104-49F9-B4E9-2E5FA1505FF6}"/>
                  </a:ext>
                </a:extLst>
              </p:cNvPr>
              <p:cNvGrpSpPr/>
              <p:nvPr/>
            </p:nvGrpSpPr>
            <p:grpSpPr>
              <a:xfrm>
                <a:off x="280892" y="5673629"/>
                <a:ext cx="698742" cy="215507"/>
                <a:chOff x="298450" y="5522776"/>
                <a:chExt cx="698742" cy="215507"/>
              </a:xfrm>
            </p:grpSpPr>
            <p:sp>
              <p:nvSpPr>
                <p:cNvPr id="159" name="立方體 158">
                  <a:extLst>
                    <a:ext uri="{FF2B5EF4-FFF2-40B4-BE49-F238E27FC236}">
                      <a16:creationId xmlns:a16="http://schemas.microsoft.com/office/drawing/2014/main" id="{7C5323F8-9E39-4C30-81DF-7247EAB82CA0}"/>
                    </a:ext>
                  </a:extLst>
                </p:cNvPr>
                <p:cNvSpPr/>
                <p:nvPr/>
              </p:nvSpPr>
              <p:spPr bwMode="auto">
                <a:xfrm>
                  <a:off x="298450" y="5522776"/>
                  <a:ext cx="215507" cy="215507"/>
                </a:xfrm>
                <a:prstGeom prst="cub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003065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TW" altLang="en-US" sz="20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</a:endParaRPr>
                </a:p>
              </p:txBody>
            </p:sp>
            <p:sp>
              <p:nvSpPr>
                <p:cNvPr id="160" name="立方體 159">
                  <a:extLst>
                    <a:ext uri="{FF2B5EF4-FFF2-40B4-BE49-F238E27FC236}">
                      <a16:creationId xmlns:a16="http://schemas.microsoft.com/office/drawing/2014/main" id="{1444E48A-3657-4980-A8B9-901E54C5AD6E}"/>
                    </a:ext>
                  </a:extLst>
                </p:cNvPr>
                <p:cNvSpPr/>
                <p:nvPr/>
              </p:nvSpPr>
              <p:spPr bwMode="auto">
                <a:xfrm>
                  <a:off x="459952" y="5522776"/>
                  <a:ext cx="215507" cy="215507"/>
                </a:xfrm>
                <a:prstGeom prst="cube">
                  <a:avLst/>
                </a:prstGeom>
                <a:solidFill>
                  <a:srgbClr val="F3D8CD"/>
                </a:solidFill>
                <a:ln w="12700" cap="flat" cmpd="sng" algn="ctr">
                  <a:solidFill>
                    <a:srgbClr val="003065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TW" altLang="en-US" sz="20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</a:endParaRPr>
                </a:p>
              </p:txBody>
            </p:sp>
            <p:sp>
              <p:nvSpPr>
                <p:cNvPr id="161" name="立方體 160">
                  <a:extLst>
                    <a:ext uri="{FF2B5EF4-FFF2-40B4-BE49-F238E27FC236}">
                      <a16:creationId xmlns:a16="http://schemas.microsoft.com/office/drawing/2014/main" id="{17C0C7F6-39E2-49A5-AA99-59313DF28796}"/>
                    </a:ext>
                  </a:extLst>
                </p:cNvPr>
                <p:cNvSpPr/>
                <p:nvPr/>
              </p:nvSpPr>
              <p:spPr bwMode="auto">
                <a:xfrm>
                  <a:off x="619549" y="5522776"/>
                  <a:ext cx="215507" cy="215507"/>
                </a:xfrm>
                <a:prstGeom prst="cub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003065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TW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</a:endParaRPr>
                </a:p>
              </p:txBody>
            </p:sp>
            <p:sp>
              <p:nvSpPr>
                <p:cNvPr id="162" name="立方體 161">
                  <a:extLst>
                    <a:ext uri="{FF2B5EF4-FFF2-40B4-BE49-F238E27FC236}">
                      <a16:creationId xmlns:a16="http://schemas.microsoft.com/office/drawing/2014/main" id="{403E6C6F-8741-4A3F-9BD6-5B0F5B376A8C}"/>
                    </a:ext>
                  </a:extLst>
                </p:cNvPr>
                <p:cNvSpPr/>
                <p:nvPr/>
              </p:nvSpPr>
              <p:spPr bwMode="auto">
                <a:xfrm>
                  <a:off x="781685" y="5522776"/>
                  <a:ext cx="215507" cy="215507"/>
                </a:xfrm>
                <a:prstGeom prst="cub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003065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TW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</a:endParaRPr>
                </a:p>
              </p:txBody>
            </p:sp>
          </p:grpSp>
          <p:grpSp>
            <p:nvGrpSpPr>
              <p:cNvPr id="152" name="群組 151">
                <a:extLst>
                  <a:ext uri="{FF2B5EF4-FFF2-40B4-BE49-F238E27FC236}">
                    <a16:creationId xmlns:a16="http://schemas.microsoft.com/office/drawing/2014/main" id="{4058C51A-BC63-454B-9039-33FB64A913EC}"/>
                  </a:ext>
                </a:extLst>
              </p:cNvPr>
              <p:cNvGrpSpPr/>
              <p:nvPr/>
            </p:nvGrpSpPr>
            <p:grpSpPr>
              <a:xfrm>
                <a:off x="280892" y="5512616"/>
                <a:ext cx="698742" cy="215507"/>
                <a:chOff x="298450" y="5522776"/>
                <a:chExt cx="698742" cy="215507"/>
              </a:xfrm>
            </p:grpSpPr>
            <p:sp>
              <p:nvSpPr>
                <p:cNvPr id="143" name="立方體 142">
                  <a:extLst>
                    <a:ext uri="{FF2B5EF4-FFF2-40B4-BE49-F238E27FC236}">
                      <a16:creationId xmlns:a16="http://schemas.microsoft.com/office/drawing/2014/main" id="{BAA9DCAB-5D5C-44CB-B2A7-73F2836087E4}"/>
                    </a:ext>
                  </a:extLst>
                </p:cNvPr>
                <p:cNvSpPr/>
                <p:nvPr/>
              </p:nvSpPr>
              <p:spPr bwMode="auto">
                <a:xfrm>
                  <a:off x="298450" y="5522776"/>
                  <a:ext cx="215507" cy="215507"/>
                </a:xfrm>
                <a:prstGeom prst="cub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003065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TW" altLang="en-US" sz="20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</a:endParaRPr>
                </a:p>
              </p:txBody>
            </p:sp>
            <p:sp>
              <p:nvSpPr>
                <p:cNvPr id="144" name="立方體 143">
                  <a:extLst>
                    <a:ext uri="{FF2B5EF4-FFF2-40B4-BE49-F238E27FC236}">
                      <a16:creationId xmlns:a16="http://schemas.microsoft.com/office/drawing/2014/main" id="{78D3DFFD-BA3A-4B06-BD65-6489CC9D86E0}"/>
                    </a:ext>
                  </a:extLst>
                </p:cNvPr>
                <p:cNvSpPr/>
                <p:nvPr/>
              </p:nvSpPr>
              <p:spPr bwMode="auto">
                <a:xfrm>
                  <a:off x="459952" y="5522776"/>
                  <a:ext cx="215507" cy="215507"/>
                </a:xfrm>
                <a:prstGeom prst="cube">
                  <a:avLst/>
                </a:prstGeom>
                <a:solidFill>
                  <a:srgbClr val="ADAEDD"/>
                </a:solidFill>
                <a:ln w="12700" cap="flat" cmpd="sng" algn="ctr">
                  <a:solidFill>
                    <a:srgbClr val="003065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TW" altLang="en-US" sz="20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</a:endParaRPr>
                </a:p>
              </p:txBody>
            </p:sp>
            <p:sp>
              <p:nvSpPr>
                <p:cNvPr id="145" name="立方體 144">
                  <a:extLst>
                    <a:ext uri="{FF2B5EF4-FFF2-40B4-BE49-F238E27FC236}">
                      <a16:creationId xmlns:a16="http://schemas.microsoft.com/office/drawing/2014/main" id="{D3411141-65CC-4EDD-B663-5B4A27F61B9B}"/>
                    </a:ext>
                  </a:extLst>
                </p:cNvPr>
                <p:cNvSpPr/>
                <p:nvPr/>
              </p:nvSpPr>
              <p:spPr bwMode="auto">
                <a:xfrm>
                  <a:off x="619549" y="5522776"/>
                  <a:ext cx="215507" cy="215507"/>
                </a:xfrm>
                <a:prstGeom prst="cub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003065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TW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</a:endParaRPr>
                </a:p>
              </p:txBody>
            </p:sp>
            <p:sp>
              <p:nvSpPr>
                <p:cNvPr id="146" name="立方體 145">
                  <a:extLst>
                    <a:ext uri="{FF2B5EF4-FFF2-40B4-BE49-F238E27FC236}">
                      <a16:creationId xmlns:a16="http://schemas.microsoft.com/office/drawing/2014/main" id="{B586FE49-D12F-47D1-8E9D-54AA474184EC}"/>
                    </a:ext>
                  </a:extLst>
                </p:cNvPr>
                <p:cNvSpPr/>
                <p:nvPr/>
              </p:nvSpPr>
              <p:spPr bwMode="auto">
                <a:xfrm>
                  <a:off x="781685" y="5522776"/>
                  <a:ext cx="215507" cy="215507"/>
                </a:xfrm>
                <a:prstGeom prst="cube">
                  <a:avLst/>
                </a:prstGeom>
                <a:solidFill>
                  <a:srgbClr val="ADAEDD"/>
                </a:solidFill>
                <a:ln w="12700" cap="flat" cmpd="sng" algn="ctr">
                  <a:solidFill>
                    <a:srgbClr val="003065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TW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</a:endParaRPr>
                </a:p>
              </p:txBody>
            </p:sp>
          </p:grpSp>
        </p:grpSp>
        <p:sp>
          <p:nvSpPr>
            <p:cNvPr id="227" name="文字方塊 226">
              <a:extLst>
                <a:ext uri="{FF2B5EF4-FFF2-40B4-BE49-F238E27FC236}">
                  <a16:creationId xmlns:a16="http://schemas.microsoft.com/office/drawing/2014/main" id="{F113C665-1F23-4660-9A0E-C86C01CED370}"/>
                </a:ext>
              </a:extLst>
            </p:cNvPr>
            <p:cNvSpPr txBox="1"/>
            <p:nvPr/>
          </p:nvSpPr>
          <p:spPr>
            <a:xfrm rot="18667232">
              <a:off x="858407" y="2344355"/>
              <a:ext cx="36471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2000" dirty="0">
                  <a:solidFill>
                    <a:srgbClr val="000000"/>
                  </a:solidFill>
                </a:rPr>
                <a:t>...</a:t>
              </a:r>
              <a:endParaRPr lang="zh-TW" altLang="en-US" sz="2000" dirty="0"/>
            </a:p>
          </p:txBody>
        </p:sp>
      </p:grpSp>
      <p:grpSp>
        <p:nvGrpSpPr>
          <p:cNvPr id="513" name="群組 512">
            <a:extLst>
              <a:ext uri="{FF2B5EF4-FFF2-40B4-BE49-F238E27FC236}">
                <a16:creationId xmlns:a16="http://schemas.microsoft.com/office/drawing/2014/main" id="{E9958972-16C7-4AEE-BB71-62A5038CEC72}"/>
              </a:ext>
            </a:extLst>
          </p:cNvPr>
          <p:cNvGrpSpPr/>
          <p:nvPr/>
        </p:nvGrpSpPr>
        <p:grpSpPr>
          <a:xfrm>
            <a:off x="2110290" y="3171398"/>
            <a:ext cx="4902070" cy="276999"/>
            <a:chOff x="2113183" y="3425398"/>
            <a:chExt cx="4902070" cy="276999"/>
          </a:xfrm>
        </p:grpSpPr>
        <p:sp>
          <p:nvSpPr>
            <p:cNvPr id="47" name="文字方塊 46">
              <a:extLst>
                <a:ext uri="{FF2B5EF4-FFF2-40B4-BE49-F238E27FC236}">
                  <a16:creationId xmlns:a16="http://schemas.microsoft.com/office/drawing/2014/main" id="{78336D2F-2B2A-4744-8B9F-C80A53005C2E}"/>
                </a:ext>
              </a:extLst>
            </p:cNvPr>
            <p:cNvSpPr txBox="1"/>
            <p:nvPr/>
          </p:nvSpPr>
          <p:spPr>
            <a:xfrm>
              <a:off x="2113183" y="3425398"/>
              <a:ext cx="1075721" cy="276999"/>
            </a:xfrm>
            <a:prstGeom prst="rect">
              <a:avLst/>
            </a:prstGeom>
            <a:solidFill>
              <a:srgbClr val="D6D7EE"/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1200" dirty="0">
                  <a:solidFill>
                    <a:srgbClr val="000000"/>
                  </a:solidFill>
                </a:rPr>
                <a:t>[Litigant-0101]</a:t>
              </a:r>
            </a:p>
          </p:txBody>
        </p:sp>
        <p:sp>
          <p:nvSpPr>
            <p:cNvPr id="48" name="文字方塊 47">
              <a:extLst>
                <a:ext uri="{FF2B5EF4-FFF2-40B4-BE49-F238E27FC236}">
                  <a16:creationId xmlns:a16="http://schemas.microsoft.com/office/drawing/2014/main" id="{C66F1B86-6CA2-432D-8165-EAE865DA923E}"/>
                </a:ext>
              </a:extLst>
            </p:cNvPr>
            <p:cNvSpPr txBox="1"/>
            <p:nvPr/>
          </p:nvSpPr>
          <p:spPr>
            <a:xfrm>
              <a:off x="3312870" y="3425398"/>
              <a:ext cx="1070874" cy="276999"/>
            </a:xfrm>
            <a:prstGeom prst="rect">
              <a:avLst/>
            </a:prstGeom>
            <a:solidFill>
              <a:srgbClr val="F0D0C2"/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1200" dirty="0">
                  <a:solidFill>
                    <a:srgbClr val="000000"/>
                  </a:solidFill>
                </a:rPr>
                <a:t>[Def-Fact-0.8]</a:t>
              </a:r>
            </a:p>
          </p:txBody>
        </p:sp>
        <p:sp>
          <p:nvSpPr>
            <p:cNvPr id="49" name="文字方塊 48">
              <a:extLst>
                <a:ext uri="{FF2B5EF4-FFF2-40B4-BE49-F238E27FC236}">
                  <a16:creationId xmlns:a16="http://schemas.microsoft.com/office/drawing/2014/main" id="{3B194825-0FBA-48B7-9E5C-582C5E50E56A}"/>
                </a:ext>
              </a:extLst>
            </p:cNvPr>
            <p:cNvSpPr txBox="1"/>
            <p:nvPr/>
          </p:nvSpPr>
          <p:spPr>
            <a:xfrm>
              <a:off x="4507710" y="3425398"/>
              <a:ext cx="1191789" cy="276999"/>
            </a:xfrm>
            <a:prstGeom prst="rect">
              <a:avLst/>
            </a:prstGeom>
            <a:solidFill>
              <a:srgbClr val="B2E3B1"/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1200" dirty="0">
                  <a:solidFill>
                    <a:srgbClr val="000000"/>
                  </a:solidFill>
                </a:rPr>
                <a:t>[Pla-Injury-0.7]</a:t>
              </a:r>
            </a:p>
          </p:txBody>
        </p:sp>
        <p:sp>
          <p:nvSpPr>
            <p:cNvPr id="238" name="文字方塊 237">
              <a:extLst>
                <a:ext uri="{FF2B5EF4-FFF2-40B4-BE49-F238E27FC236}">
                  <a16:creationId xmlns:a16="http://schemas.microsoft.com/office/drawing/2014/main" id="{1CD337AA-3304-494A-9A1A-BF36D650E5B3}"/>
                </a:ext>
              </a:extLst>
            </p:cNvPr>
            <p:cNvSpPr txBox="1"/>
            <p:nvPr/>
          </p:nvSpPr>
          <p:spPr>
            <a:xfrm>
              <a:off x="5823464" y="3425398"/>
              <a:ext cx="1191789" cy="276999"/>
            </a:xfrm>
            <a:prstGeom prst="rect">
              <a:avLst/>
            </a:prstGeom>
            <a:solidFill>
              <a:srgbClr val="A6D9FF"/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1200" dirty="0">
                  <a:solidFill>
                    <a:srgbClr val="000000"/>
                  </a:solidFill>
                </a:rPr>
                <a:t>[Def-Comp-0.6]</a:t>
              </a:r>
            </a:p>
          </p:txBody>
        </p:sp>
      </p:grpSp>
      <p:cxnSp>
        <p:nvCxnSpPr>
          <p:cNvPr id="243" name="接點: 肘形 242">
            <a:extLst>
              <a:ext uri="{FF2B5EF4-FFF2-40B4-BE49-F238E27FC236}">
                <a16:creationId xmlns:a16="http://schemas.microsoft.com/office/drawing/2014/main" id="{CC53864B-6490-4D8F-AE78-011E370C39C8}"/>
              </a:ext>
            </a:extLst>
          </p:cNvPr>
          <p:cNvCxnSpPr>
            <a:cxnSpLocks/>
            <a:stCxn id="75" idx="0"/>
            <a:endCxn id="48" idx="0"/>
          </p:cNvCxnSpPr>
          <p:nvPr/>
        </p:nvCxnSpPr>
        <p:spPr bwMode="auto">
          <a:xfrm rot="5400000">
            <a:off x="3913175" y="2522713"/>
            <a:ext cx="580925" cy="716445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15875" cap="flat" cmpd="sng" algn="ctr">
            <a:solidFill>
              <a:schemeClr val="accent6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46" name="接點: 肘形 245">
            <a:extLst>
              <a:ext uri="{FF2B5EF4-FFF2-40B4-BE49-F238E27FC236}">
                <a16:creationId xmlns:a16="http://schemas.microsoft.com/office/drawing/2014/main" id="{13AE972C-A78A-4CEB-B76E-9ECDC27BA981}"/>
              </a:ext>
            </a:extLst>
          </p:cNvPr>
          <p:cNvCxnSpPr>
            <a:cxnSpLocks/>
            <a:stCxn id="75" idx="0"/>
            <a:endCxn id="238" idx="0"/>
          </p:cNvCxnSpPr>
          <p:nvPr/>
        </p:nvCxnSpPr>
        <p:spPr bwMode="auto">
          <a:xfrm rot="16200000" flipH="1">
            <a:off x="5198700" y="1953631"/>
            <a:ext cx="580925" cy="1854607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15875" cap="flat" cmpd="sng" algn="ctr">
            <a:solidFill>
              <a:schemeClr val="accent6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84" name="文字方塊 283">
            <a:extLst>
              <a:ext uri="{FF2B5EF4-FFF2-40B4-BE49-F238E27FC236}">
                <a16:creationId xmlns:a16="http://schemas.microsoft.com/office/drawing/2014/main" id="{D34B2349-95FA-49A0-A1F4-3180CDBA9CA6}"/>
              </a:ext>
            </a:extLst>
          </p:cNvPr>
          <p:cNvSpPr txBox="1"/>
          <p:nvPr/>
        </p:nvSpPr>
        <p:spPr>
          <a:xfrm>
            <a:off x="3693371" y="1280636"/>
            <a:ext cx="2065880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sz="1600" dirty="0">
                <a:solidFill>
                  <a:srgbClr val="F8F4BA"/>
                </a:solidFill>
              </a:rPr>
              <a:t>[0, 1, 0, 1, 0, 0.8,... 0.6]</a:t>
            </a:r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2EAEDAD4-B01A-49A7-837C-0333919498A8}"/>
              </a:ext>
            </a:extLst>
          </p:cNvPr>
          <p:cNvCxnSpPr>
            <a:cxnSpLocks/>
            <a:stCxn id="73" idx="2"/>
            <a:endCxn id="77" idx="0"/>
          </p:cNvCxnSpPr>
          <p:nvPr/>
        </p:nvCxnSpPr>
        <p:spPr bwMode="auto">
          <a:xfrm>
            <a:off x="4561325" y="1744123"/>
            <a:ext cx="0" cy="239191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rgbClr val="5E5E5E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287" name="文字方塊 286">
            <a:extLst>
              <a:ext uri="{FF2B5EF4-FFF2-40B4-BE49-F238E27FC236}">
                <a16:creationId xmlns:a16="http://schemas.microsoft.com/office/drawing/2014/main" id="{68D14D47-1D01-4036-87BA-2F294C4996F4}"/>
              </a:ext>
            </a:extLst>
          </p:cNvPr>
          <p:cNvSpPr txBox="1"/>
          <p:nvPr/>
        </p:nvSpPr>
        <p:spPr>
          <a:xfrm>
            <a:off x="3610391" y="1340512"/>
            <a:ext cx="2065880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sz="1600" dirty="0">
                <a:solidFill>
                  <a:srgbClr val="F8F4BA"/>
                </a:solidFill>
              </a:rPr>
              <a:t>[0, 1, 0, 1, 0, 0.8,... 0.6]</a:t>
            </a:r>
          </a:p>
        </p:txBody>
      </p:sp>
      <p:sp>
        <p:nvSpPr>
          <p:cNvPr id="73" name="文字方塊 72">
            <a:extLst>
              <a:ext uri="{FF2B5EF4-FFF2-40B4-BE49-F238E27FC236}">
                <a16:creationId xmlns:a16="http://schemas.microsoft.com/office/drawing/2014/main" id="{47D3A0A2-5E6E-4C81-A6E3-F20E2A4E5104}"/>
              </a:ext>
            </a:extLst>
          </p:cNvPr>
          <p:cNvSpPr txBox="1"/>
          <p:nvPr/>
        </p:nvSpPr>
        <p:spPr>
          <a:xfrm>
            <a:off x="3528385" y="1405569"/>
            <a:ext cx="2065880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sz="1600" dirty="0">
                <a:solidFill>
                  <a:srgbClr val="000000"/>
                </a:solidFill>
              </a:rPr>
              <a:t>[0, 1, 0, 1, 0, 0.8,... 0]</a:t>
            </a:r>
          </a:p>
        </p:txBody>
      </p:sp>
      <p:sp>
        <p:nvSpPr>
          <p:cNvPr id="285" name="文字方塊 284">
            <a:extLst>
              <a:ext uri="{FF2B5EF4-FFF2-40B4-BE49-F238E27FC236}">
                <a16:creationId xmlns:a16="http://schemas.microsoft.com/office/drawing/2014/main" id="{F38EAA74-0ABA-4724-9FE7-B56E55D931C1}"/>
              </a:ext>
            </a:extLst>
          </p:cNvPr>
          <p:cNvSpPr txBox="1"/>
          <p:nvPr/>
        </p:nvSpPr>
        <p:spPr>
          <a:xfrm>
            <a:off x="5830624" y="1213386"/>
            <a:ext cx="3647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solidFill>
                  <a:srgbClr val="000000"/>
                </a:solidFill>
              </a:rPr>
              <a:t>...</a:t>
            </a:r>
            <a:endParaRPr lang="zh-TW" altLang="en-US" sz="2000" dirty="0"/>
          </a:p>
        </p:txBody>
      </p:sp>
      <p:cxnSp>
        <p:nvCxnSpPr>
          <p:cNvPr id="97" name="接點: 弧形 96">
            <a:extLst>
              <a:ext uri="{FF2B5EF4-FFF2-40B4-BE49-F238E27FC236}">
                <a16:creationId xmlns:a16="http://schemas.microsoft.com/office/drawing/2014/main" id="{06EB3B6C-76BB-424A-B776-A7D03A883C2C}"/>
              </a:ext>
            </a:extLst>
          </p:cNvPr>
          <p:cNvCxnSpPr>
            <a:cxnSpLocks/>
            <a:stCxn id="179" idx="5"/>
            <a:endCxn id="73" idx="1"/>
          </p:cNvCxnSpPr>
          <p:nvPr/>
        </p:nvCxnSpPr>
        <p:spPr bwMode="auto">
          <a:xfrm flipV="1">
            <a:off x="1227948" y="1574846"/>
            <a:ext cx="2300437" cy="1263486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15875" cap="flat" cmpd="sng" algn="ctr">
            <a:solidFill>
              <a:srgbClr val="51515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0C7404B1-F5D2-461F-91A6-B840375A3A18}"/>
              </a:ext>
            </a:extLst>
          </p:cNvPr>
          <p:cNvSpPr txBox="1"/>
          <p:nvPr/>
        </p:nvSpPr>
        <p:spPr>
          <a:xfrm>
            <a:off x="3716429" y="906949"/>
            <a:ext cx="16770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600" dirty="0">
                <a:solidFill>
                  <a:srgbClr val="000000"/>
                </a:solidFill>
              </a:rPr>
              <a:t>Semantic Hashing</a:t>
            </a:r>
            <a:endParaRPr lang="zh-TW" altLang="en-US" sz="1600" dirty="0"/>
          </a:p>
        </p:txBody>
      </p:sp>
      <p:sp>
        <p:nvSpPr>
          <p:cNvPr id="295" name="文字方塊 294">
            <a:extLst>
              <a:ext uri="{FF2B5EF4-FFF2-40B4-BE49-F238E27FC236}">
                <a16:creationId xmlns:a16="http://schemas.microsoft.com/office/drawing/2014/main" id="{2F5071EF-4038-421F-9688-AFCD513235B3}"/>
              </a:ext>
            </a:extLst>
          </p:cNvPr>
          <p:cNvSpPr txBox="1"/>
          <p:nvPr/>
        </p:nvSpPr>
        <p:spPr>
          <a:xfrm>
            <a:off x="3491388" y="4816197"/>
            <a:ext cx="2454518" cy="338554"/>
          </a:xfrm>
          <a:prstGeom prst="rect">
            <a:avLst/>
          </a:prstGeom>
          <a:solidFill>
            <a:srgbClr val="D6D7EE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sz="1600" dirty="0">
                <a:solidFill>
                  <a:srgbClr val="FFDC97"/>
                </a:solidFill>
              </a:rPr>
              <a:t>[P0101_F08_I06_C07]</a:t>
            </a:r>
          </a:p>
        </p:txBody>
      </p:sp>
      <p:sp>
        <p:nvSpPr>
          <p:cNvPr id="293" name="文字方塊 292">
            <a:extLst>
              <a:ext uri="{FF2B5EF4-FFF2-40B4-BE49-F238E27FC236}">
                <a16:creationId xmlns:a16="http://schemas.microsoft.com/office/drawing/2014/main" id="{668ACC2D-2D8B-4360-9325-ED31F5925F15}"/>
              </a:ext>
            </a:extLst>
          </p:cNvPr>
          <p:cNvSpPr txBox="1"/>
          <p:nvPr/>
        </p:nvSpPr>
        <p:spPr>
          <a:xfrm>
            <a:off x="3429016" y="4880062"/>
            <a:ext cx="2454519" cy="338554"/>
          </a:xfrm>
          <a:prstGeom prst="rect">
            <a:avLst/>
          </a:prstGeom>
          <a:solidFill>
            <a:srgbClr val="D6D7EE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sz="1600" dirty="0">
                <a:solidFill>
                  <a:srgbClr val="000000"/>
                </a:solidFill>
              </a:rPr>
              <a:t>[P0101_F08_I06_C07]</a:t>
            </a:r>
          </a:p>
        </p:txBody>
      </p:sp>
      <p:sp>
        <p:nvSpPr>
          <p:cNvPr id="66" name="文字方塊 65">
            <a:extLst>
              <a:ext uri="{FF2B5EF4-FFF2-40B4-BE49-F238E27FC236}">
                <a16:creationId xmlns:a16="http://schemas.microsoft.com/office/drawing/2014/main" id="{E33AD782-0F06-4A6C-B8F8-8217D8DF53BE}"/>
              </a:ext>
            </a:extLst>
          </p:cNvPr>
          <p:cNvSpPr txBox="1"/>
          <p:nvPr/>
        </p:nvSpPr>
        <p:spPr>
          <a:xfrm>
            <a:off x="3315858" y="4955939"/>
            <a:ext cx="2490935" cy="338554"/>
          </a:xfrm>
          <a:prstGeom prst="rect">
            <a:avLst/>
          </a:prstGeom>
          <a:solidFill>
            <a:srgbClr val="D6D7EE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sz="1600" dirty="0">
                <a:solidFill>
                  <a:srgbClr val="000000"/>
                </a:solidFill>
              </a:rPr>
              <a:t>[L0101_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0D0C2"/>
                </a:highlight>
              </a:rPr>
              <a:t>DF08</a:t>
            </a:r>
            <a:r>
              <a:rPr lang="en-US" altLang="zh-TW" sz="1600" dirty="0">
                <a:solidFill>
                  <a:srgbClr val="000000"/>
                </a:solidFill>
              </a:rPr>
              <a:t>_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B2E3B1"/>
                </a:highlight>
              </a:rPr>
              <a:t>PI07</a:t>
            </a:r>
            <a:r>
              <a:rPr lang="en-US" altLang="zh-TW" sz="1600" dirty="0">
                <a:solidFill>
                  <a:srgbClr val="000000"/>
                </a:solidFill>
              </a:rPr>
              <a:t>_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A6D9FF"/>
                </a:highlight>
              </a:rPr>
              <a:t>DC06</a:t>
            </a:r>
            <a:r>
              <a:rPr lang="en-US" altLang="zh-TW" sz="1600" dirty="0">
                <a:solidFill>
                  <a:srgbClr val="000000"/>
                </a:solidFill>
              </a:rPr>
              <a:t>]</a:t>
            </a:r>
          </a:p>
        </p:txBody>
      </p:sp>
      <p:sp>
        <p:nvSpPr>
          <p:cNvPr id="296" name="文字方塊 295">
            <a:extLst>
              <a:ext uri="{FF2B5EF4-FFF2-40B4-BE49-F238E27FC236}">
                <a16:creationId xmlns:a16="http://schemas.microsoft.com/office/drawing/2014/main" id="{989F0613-EA6B-4195-9558-A60390205F06}"/>
              </a:ext>
            </a:extLst>
          </p:cNvPr>
          <p:cNvSpPr txBox="1"/>
          <p:nvPr/>
        </p:nvSpPr>
        <p:spPr>
          <a:xfrm>
            <a:off x="6015820" y="4773336"/>
            <a:ext cx="3647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solidFill>
                  <a:srgbClr val="000000"/>
                </a:solidFill>
              </a:rPr>
              <a:t>...</a:t>
            </a:r>
            <a:endParaRPr lang="zh-TW" altLang="en-US" sz="2000" dirty="0"/>
          </a:p>
        </p:txBody>
      </p:sp>
      <p:cxnSp>
        <p:nvCxnSpPr>
          <p:cNvPr id="268" name="接點: 肘形 267">
            <a:extLst>
              <a:ext uri="{FF2B5EF4-FFF2-40B4-BE49-F238E27FC236}">
                <a16:creationId xmlns:a16="http://schemas.microsoft.com/office/drawing/2014/main" id="{75459805-4FD4-4454-B4C9-356C17D75590}"/>
              </a:ext>
            </a:extLst>
          </p:cNvPr>
          <p:cNvCxnSpPr>
            <a:cxnSpLocks/>
            <a:stCxn id="47" idx="2"/>
            <a:endCxn id="315" idx="0"/>
          </p:cNvCxnSpPr>
          <p:nvPr/>
        </p:nvCxnSpPr>
        <p:spPr bwMode="auto">
          <a:xfrm rot="16200000" flipH="1">
            <a:off x="3344916" y="2751632"/>
            <a:ext cx="519645" cy="1913174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15875" cap="flat" cmpd="sng" algn="ctr">
            <a:solidFill>
              <a:srgbClr val="626465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71" name="接點: 肘形 270">
            <a:extLst>
              <a:ext uri="{FF2B5EF4-FFF2-40B4-BE49-F238E27FC236}">
                <a16:creationId xmlns:a16="http://schemas.microsoft.com/office/drawing/2014/main" id="{31707F72-A935-44DA-AD35-5B64DC88BEE1}"/>
              </a:ext>
            </a:extLst>
          </p:cNvPr>
          <p:cNvCxnSpPr>
            <a:cxnSpLocks/>
            <a:stCxn id="48" idx="2"/>
            <a:endCxn id="315" idx="0"/>
          </p:cNvCxnSpPr>
          <p:nvPr/>
        </p:nvCxnSpPr>
        <p:spPr bwMode="auto">
          <a:xfrm rot="16200000" flipH="1">
            <a:off x="3943547" y="3350263"/>
            <a:ext cx="519645" cy="715911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15875" cap="flat" cmpd="sng" algn="ctr">
            <a:solidFill>
              <a:srgbClr val="626465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74" name="接點: 肘形 273">
            <a:extLst>
              <a:ext uri="{FF2B5EF4-FFF2-40B4-BE49-F238E27FC236}">
                <a16:creationId xmlns:a16="http://schemas.microsoft.com/office/drawing/2014/main" id="{7B16C9A9-4E13-438F-A0E6-11A265461140}"/>
              </a:ext>
            </a:extLst>
          </p:cNvPr>
          <p:cNvCxnSpPr>
            <a:cxnSpLocks/>
            <a:stCxn id="49" idx="2"/>
            <a:endCxn id="315" idx="0"/>
          </p:cNvCxnSpPr>
          <p:nvPr/>
        </p:nvCxnSpPr>
        <p:spPr bwMode="auto">
          <a:xfrm rot="5400000">
            <a:off x="4571197" y="3438526"/>
            <a:ext cx="519645" cy="539387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15875" cap="flat" cmpd="sng" algn="ctr">
            <a:solidFill>
              <a:srgbClr val="626465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77" name="接點: 肘形 276">
            <a:extLst>
              <a:ext uri="{FF2B5EF4-FFF2-40B4-BE49-F238E27FC236}">
                <a16:creationId xmlns:a16="http://schemas.microsoft.com/office/drawing/2014/main" id="{2B4CCB1C-D3E8-4838-B92C-1D508E44AF83}"/>
              </a:ext>
            </a:extLst>
          </p:cNvPr>
          <p:cNvCxnSpPr>
            <a:cxnSpLocks/>
            <a:stCxn id="238" idx="2"/>
            <a:endCxn id="315" idx="0"/>
          </p:cNvCxnSpPr>
          <p:nvPr/>
        </p:nvCxnSpPr>
        <p:spPr bwMode="auto">
          <a:xfrm rot="5400000">
            <a:off x="5229074" y="2780649"/>
            <a:ext cx="519645" cy="1855141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15875" cap="flat" cmpd="sng" algn="ctr">
            <a:solidFill>
              <a:srgbClr val="626465"/>
            </a:solidFill>
            <a:prstDash val="solid"/>
            <a:round/>
            <a:headEnd type="none"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5" name="文字方塊 314">
                <a:extLst>
                  <a:ext uri="{FF2B5EF4-FFF2-40B4-BE49-F238E27FC236}">
                    <a16:creationId xmlns:a16="http://schemas.microsoft.com/office/drawing/2014/main" id="{25FAFEDB-C455-4174-916C-E626876E2276}"/>
                  </a:ext>
                </a:extLst>
              </p:cNvPr>
              <p:cNvSpPr txBox="1"/>
              <p:nvPr/>
            </p:nvSpPr>
            <p:spPr>
              <a:xfrm>
                <a:off x="2709615" y="3968042"/>
                <a:ext cx="3703420" cy="338554"/>
              </a:xfrm>
              <a:prstGeom prst="rect">
                <a:avLst/>
              </a:prstGeom>
              <a:solidFill>
                <a:srgbClr val="D6D7EE"/>
              </a:solidFill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𝐻𝑎𝑠h</m:t>
                      </m:r>
                      <m:r>
                        <a:rPr lang="en-US" altLang="zh-TW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𝐶𝑜𝑑𝑒</m:t>
                      </m:r>
                      <m:r>
                        <a:rPr lang="en-US" altLang="zh-TW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𝑅𝑜𝑜𝑡</m:t>
                      </m:r>
                      <m:r>
                        <a:rPr lang="en-US" altLang="zh-TW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⨁</m:t>
                      </m:r>
                      <m:r>
                        <a:rPr lang="en-US" altLang="zh-TW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TW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𝑅𝑜𝑙𝑒</m:t>
                      </m:r>
                      <m:r>
                        <a:rPr lang="en-US" altLang="zh-TW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⨁</m:t>
                      </m:r>
                      <m:r>
                        <a:rPr lang="en-US" altLang="zh-TW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𝐹𝑒𝑎𝑡𝑢𝑟𝑒</m:t>
                      </m:r>
                      <m:r>
                        <a:rPr lang="en-US" altLang="zh-TW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TW" altLang="en-US" sz="1000" i="1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315" name="文字方塊 314">
                <a:extLst>
                  <a:ext uri="{FF2B5EF4-FFF2-40B4-BE49-F238E27FC236}">
                    <a16:creationId xmlns:a16="http://schemas.microsoft.com/office/drawing/2014/main" id="{25FAFEDB-C455-4174-916C-E626876E22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9615" y="3968042"/>
                <a:ext cx="3703420" cy="338554"/>
              </a:xfrm>
              <a:prstGeom prst="rect">
                <a:avLst/>
              </a:prstGeom>
              <a:blipFill>
                <a:blip r:embed="rId3"/>
                <a:stretch>
                  <a:fillRect b="-127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手繪多邊形: 圖案 28">
                <a:extLst>
                  <a:ext uri="{FF2B5EF4-FFF2-40B4-BE49-F238E27FC236}">
                    <a16:creationId xmlns:a16="http://schemas.microsoft.com/office/drawing/2014/main" id="{E5CE9DEC-3617-4CD0-8B4D-1E833CC538B8}"/>
                  </a:ext>
                </a:extLst>
              </p:cNvPr>
              <p:cNvSpPr/>
              <p:nvPr/>
            </p:nvSpPr>
            <p:spPr>
              <a:xfrm>
                <a:off x="9168578" y="1358622"/>
                <a:ext cx="713277" cy="713277"/>
              </a:xfrm>
              <a:custGeom>
                <a:avLst/>
                <a:gdLst>
                  <a:gd name="connsiteX0" fmla="*/ 300234 w 300234"/>
                  <a:gd name="connsiteY0" fmla="*/ 150117 h 300234"/>
                  <a:gd name="connsiteX1" fmla="*/ 150117 w 300234"/>
                  <a:gd name="connsiteY1" fmla="*/ 300234 h 300234"/>
                  <a:gd name="connsiteX2" fmla="*/ 0 w 300234"/>
                  <a:gd name="connsiteY2" fmla="*/ 150117 h 300234"/>
                  <a:gd name="connsiteX3" fmla="*/ 150117 w 300234"/>
                  <a:gd name="connsiteY3" fmla="*/ 0 h 300234"/>
                  <a:gd name="connsiteX4" fmla="*/ 300234 w 300234"/>
                  <a:gd name="connsiteY4" fmla="*/ 150117 h 3002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0234" h="300234">
                    <a:moveTo>
                      <a:pt x="300234" y="150117"/>
                    </a:moveTo>
                    <a:cubicBezTo>
                      <a:pt x="300234" y="233024"/>
                      <a:pt x="233024" y="300234"/>
                      <a:pt x="150117" y="300234"/>
                    </a:cubicBezTo>
                    <a:cubicBezTo>
                      <a:pt x="67210" y="300234"/>
                      <a:pt x="0" y="233024"/>
                      <a:pt x="0" y="150117"/>
                    </a:cubicBezTo>
                    <a:cubicBezTo>
                      <a:pt x="0" y="67210"/>
                      <a:pt x="67210" y="0"/>
                      <a:pt x="150117" y="0"/>
                    </a:cubicBezTo>
                    <a:cubicBezTo>
                      <a:pt x="233025" y="0"/>
                      <a:pt x="300234" y="67210"/>
                      <a:pt x="300234" y="150117"/>
                    </a:cubicBezTo>
                    <a:close/>
                  </a:path>
                </a:pathLst>
              </a:custGeom>
              <a:solidFill>
                <a:srgbClr val="D6D7EE"/>
              </a:solidFill>
              <a:ln w="9525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TW" altLang="en-US" sz="800" i="1" dirty="0">
                  <a:solidFill>
                    <a:srgbClr val="000000"/>
                  </a:solidFill>
                </a:endParaRPr>
              </a:p>
              <a:p>
                <a:pPr algn="ctr"/>
                <a:r>
                  <a:rPr lang="en-US" altLang="zh-TW" sz="1200" dirty="0">
                    <a:solidFill>
                      <a:srgbClr val="000000"/>
                    </a:solidFill>
                  </a:rPr>
                  <a:t>[L0101]</a:t>
                </a:r>
                <a:endParaRPr lang="zh-TW" altLang="en-US" sz="12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29" name="手繪多邊形: 圖案 28">
                <a:extLst>
                  <a:ext uri="{FF2B5EF4-FFF2-40B4-BE49-F238E27FC236}">
                    <a16:creationId xmlns:a16="http://schemas.microsoft.com/office/drawing/2014/main" id="{E5CE9DEC-3617-4CD0-8B4D-1E833CC538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8578" y="1358622"/>
                <a:ext cx="713277" cy="713277"/>
              </a:xfrm>
              <a:custGeom>
                <a:avLst/>
                <a:gdLst>
                  <a:gd name="connsiteX0" fmla="*/ 300234 w 300234"/>
                  <a:gd name="connsiteY0" fmla="*/ 150117 h 300234"/>
                  <a:gd name="connsiteX1" fmla="*/ 150117 w 300234"/>
                  <a:gd name="connsiteY1" fmla="*/ 300234 h 300234"/>
                  <a:gd name="connsiteX2" fmla="*/ 0 w 300234"/>
                  <a:gd name="connsiteY2" fmla="*/ 150117 h 300234"/>
                  <a:gd name="connsiteX3" fmla="*/ 150117 w 300234"/>
                  <a:gd name="connsiteY3" fmla="*/ 0 h 300234"/>
                  <a:gd name="connsiteX4" fmla="*/ 300234 w 300234"/>
                  <a:gd name="connsiteY4" fmla="*/ 150117 h 3002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0234" h="300234">
                    <a:moveTo>
                      <a:pt x="300234" y="150117"/>
                    </a:moveTo>
                    <a:cubicBezTo>
                      <a:pt x="300234" y="233024"/>
                      <a:pt x="233024" y="300234"/>
                      <a:pt x="150117" y="300234"/>
                    </a:cubicBezTo>
                    <a:cubicBezTo>
                      <a:pt x="67210" y="300234"/>
                      <a:pt x="0" y="233024"/>
                      <a:pt x="0" y="150117"/>
                    </a:cubicBezTo>
                    <a:cubicBezTo>
                      <a:pt x="0" y="67210"/>
                      <a:pt x="67210" y="0"/>
                      <a:pt x="150117" y="0"/>
                    </a:cubicBezTo>
                    <a:cubicBezTo>
                      <a:pt x="233025" y="0"/>
                      <a:pt x="300234" y="67210"/>
                      <a:pt x="300234" y="150117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  <a:ln w="9525" cap="flat">
                <a:noFill/>
                <a:prstDash val="solid"/>
                <a:miter/>
              </a:ln>
              <a:effectLst/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手繪多邊形: 圖案 29">
                <a:extLst>
                  <a:ext uri="{FF2B5EF4-FFF2-40B4-BE49-F238E27FC236}">
                    <a16:creationId xmlns:a16="http://schemas.microsoft.com/office/drawing/2014/main" id="{751D15AA-788C-43B8-BCC9-D2B09C2DA817}"/>
                  </a:ext>
                </a:extLst>
              </p:cNvPr>
              <p:cNvSpPr/>
              <p:nvPr/>
            </p:nvSpPr>
            <p:spPr>
              <a:xfrm>
                <a:off x="7733135" y="3029847"/>
                <a:ext cx="889241" cy="889241"/>
              </a:xfrm>
              <a:custGeom>
                <a:avLst/>
                <a:gdLst>
                  <a:gd name="connsiteX0" fmla="*/ 300234 w 300234"/>
                  <a:gd name="connsiteY0" fmla="*/ 150117 h 300234"/>
                  <a:gd name="connsiteX1" fmla="*/ 150117 w 300234"/>
                  <a:gd name="connsiteY1" fmla="*/ 300234 h 300234"/>
                  <a:gd name="connsiteX2" fmla="*/ 0 w 300234"/>
                  <a:gd name="connsiteY2" fmla="*/ 150117 h 300234"/>
                  <a:gd name="connsiteX3" fmla="*/ 150117 w 300234"/>
                  <a:gd name="connsiteY3" fmla="*/ 0 h 300234"/>
                  <a:gd name="connsiteX4" fmla="*/ 300234 w 300234"/>
                  <a:gd name="connsiteY4" fmla="*/ 150117 h 3002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0234" h="300234">
                    <a:moveTo>
                      <a:pt x="300234" y="150117"/>
                    </a:moveTo>
                    <a:cubicBezTo>
                      <a:pt x="300234" y="233024"/>
                      <a:pt x="233024" y="300234"/>
                      <a:pt x="150117" y="300234"/>
                    </a:cubicBezTo>
                    <a:cubicBezTo>
                      <a:pt x="67210" y="300234"/>
                      <a:pt x="0" y="233024"/>
                      <a:pt x="0" y="150117"/>
                    </a:cubicBezTo>
                    <a:cubicBezTo>
                      <a:pt x="0" y="67210"/>
                      <a:pt x="67210" y="0"/>
                      <a:pt x="150117" y="0"/>
                    </a:cubicBezTo>
                    <a:cubicBezTo>
                      <a:pt x="233025" y="0"/>
                      <a:pt x="300234" y="67210"/>
                      <a:pt x="300234" y="150117"/>
                    </a:cubicBezTo>
                    <a:close/>
                  </a:path>
                </a:pathLst>
              </a:custGeom>
              <a:solidFill>
                <a:srgbClr val="D6D7EE"/>
              </a:solidFill>
              <a:ln w="9525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srgbClr val="000000"/>
                  </a:solidFill>
                </a:endParaRPr>
              </a:p>
              <a:p>
                <a:pPr algn="ctr"/>
                <a:r>
                  <a:rPr lang="en-US" altLang="zh-TW" sz="1200" dirty="0">
                    <a:solidFill>
                      <a:srgbClr val="000000"/>
                    </a:solidFill>
                  </a:rPr>
                  <a:t>[L0101_</a:t>
                </a:r>
              </a:p>
              <a:p>
                <a:pPr algn="ctr"/>
                <a:r>
                  <a:rPr lang="en-US" altLang="zh-TW" sz="1200" dirty="0">
                    <a:solidFill>
                      <a:srgbClr val="000000"/>
                    </a:solidFill>
                    <a:highlight>
                      <a:srgbClr val="F0D0C2"/>
                    </a:highlight>
                  </a:rPr>
                  <a:t>DF08</a:t>
                </a:r>
                <a:r>
                  <a:rPr lang="en-US" altLang="zh-TW" sz="1200" dirty="0">
                    <a:solidFill>
                      <a:srgbClr val="000000"/>
                    </a:solidFill>
                  </a:rPr>
                  <a:t>]</a:t>
                </a:r>
                <a:endParaRPr lang="zh-TW" altLang="en-US" sz="12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30" name="手繪多邊形: 圖案 29">
                <a:extLst>
                  <a:ext uri="{FF2B5EF4-FFF2-40B4-BE49-F238E27FC236}">
                    <a16:creationId xmlns:a16="http://schemas.microsoft.com/office/drawing/2014/main" id="{751D15AA-788C-43B8-BCC9-D2B09C2DA8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3135" y="3029847"/>
                <a:ext cx="889241" cy="889241"/>
              </a:xfrm>
              <a:custGeom>
                <a:avLst/>
                <a:gdLst>
                  <a:gd name="connsiteX0" fmla="*/ 300234 w 300234"/>
                  <a:gd name="connsiteY0" fmla="*/ 150117 h 300234"/>
                  <a:gd name="connsiteX1" fmla="*/ 150117 w 300234"/>
                  <a:gd name="connsiteY1" fmla="*/ 300234 h 300234"/>
                  <a:gd name="connsiteX2" fmla="*/ 0 w 300234"/>
                  <a:gd name="connsiteY2" fmla="*/ 150117 h 300234"/>
                  <a:gd name="connsiteX3" fmla="*/ 150117 w 300234"/>
                  <a:gd name="connsiteY3" fmla="*/ 0 h 300234"/>
                  <a:gd name="connsiteX4" fmla="*/ 300234 w 300234"/>
                  <a:gd name="connsiteY4" fmla="*/ 150117 h 3002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0234" h="300234">
                    <a:moveTo>
                      <a:pt x="300234" y="150117"/>
                    </a:moveTo>
                    <a:cubicBezTo>
                      <a:pt x="300234" y="233024"/>
                      <a:pt x="233024" y="300234"/>
                      <a:pt x="150117" y="300234"/>
                    </a:cubicBezTo>
                    <a:cubicBezTo>
                      <a:pt x="67210" y="300234"/>
                      <a:pt x="0" y="233024"/>
                      <a:pt x="0" y="150117"/>
                    </a:cubicBezTo>
                    <a:cubicBezTo>
                      <a:pt x="0" y="67210"/>
                      <a:pt x="67210" y="0"/>
                      <a:pt x="150117" y="0"/>
                    </a:cubicBezTo>
                    <a:cubicBezTo>
                      <a:pt x="233025" y="0"/>
                      <a:pt x="300234" y="67210"/>
                      <a:pt x="300234" y="150117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/>
                </a:stretch>
              </a:blipFill>
              <a:ln w="9525" cap="flat">
                <a:noFill/>
                <a:prstDash val="solid"/>
                <a:miter/>
              </a:ln>
              <a:effectLst/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直線單箭頭接點 53">
            <a:extLst>
              <a:ext uri="{FF2B5EF4-FFF2-40B4-BE49-F238E27FC236}">
                <a16:creationId xmlns:a16="http://schemas.microsoft.com/office/drawing/2014/main" id="{C3013872-799B-4256-9669-A1E1BA0DFE9B}"/>
              </a:ext>
            </a:extLst>
          </p:cNvPr>
          <p:cNvCxnSpPr>
            <a:cxnSpLocks/>
            <a:stCxn id="30" idx="3"/>
            <a:endCxn id="29" idx="1"/>
          </p:cNvCxnSpPr>
          <p:nvPr/>
        </p:nvCxnSpPr>
        <p:spPr bwMode="auto">
          <a:xfrm flipV="1">
            <a:off x="8177756" y="2071899"/>
            <a:ext cx="1347461" cy="957948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chemeClr val="accent6">
                <a:lumMod val="50000"/>
              </a:schemeClr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60" name="直線單箭頭接點 59">
            <a:extLst>
              <a:ext uri="{FF2B5EF4-FFF2-40B4-BE49-F238E27FC236}">
                <a16:creationId xmlns:a16="http://schemas.microsoft.com/office/drawing/2014/main" id="{AB32F490-E080-44AC-91AF-6CA9E8E0ABAD}"/>
              </a:ext>
            </a:extLst>
          </p:cNvPr>
          <p:cNvCxnSpPr>
            <a:cxnSpLocks/>
            <a:stCxn id="351" idx="3"/>
            <a:endCxn id="29" idx="1"/>
          </p:cNvCxnSpPr>
          <p:nvPr/>
        </p:nvCxnSpPr>
        <p:spPr bwMode="auto">
          <a:xfrm flipV="1">
            <a:off x="9415200" y="2071899"/>
            <a:ext cx="110017" cy="1009626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chemeClr val="accent6">
                <a:lumMod val="50000"/>
              </a:schemeClr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61" name="直線單箭頭接點 60">
            <a:extLst>
              <a:ext uri="{FF2B5EF4-FFF2-40B4-BE49-F238E27FC236}">
                <a16:creationId xmlns:a16="http://schemas.microsoft.com/office/drawing/2014/main" id="{92A782D2-45E4-47E5-A0CF-13B031916DA6}"/>
              </a:ext>
            </a:extLst>
          </p:cNvPr>
          <p:cNvCxnSpPr>
            <a:cxnSpLocks/>
            <a:stCxn id="353" idx="2"/>
            <a:endCxn id="30" idx="1"/>
          </p:cNvCxnSpPr>
          <p:nvPr/>
        </p:nvCxnSpPr>
        <p:spPr bwMode="auto">
          <a:xfrm flipH="1" flipV="1">
            <a:off x="8177756" y="3919088"/>
            <a:ext cx="669714" cy="1051423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rgbClr val="6B6DC3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64" name="直線單箭頭接點 63">
            <a:extLst>
              <a:ext uri="{FF2B5EF4-FFF2-40B4-BE49-F238E27FC236}">
                <a16:creationId xmlns:a16="http://schemas.microsoft.com/office/drawing/2014/main" id="{CF01D88D-04DA-458D-9F5A-382C53EB9999}"/>
              </a:ext>
            </a:extLst>
          </p:cNvPr>
          <p:cNvCxnSpPr>
            <a:cxnSpLocks/>
            <a:stCxn id="353" idx="3"/>
            <a:endCxn id="351" idx="1"/>
          </p:cNvCxnSpPr>
          <p:nvPr/>
        </p:nvCxnSpPr>
        <p:spPr bwMode="auto">
          <a:xfrm flipV="1">
            <a:off x="9389223" y="3921260"/>
            <a:ext cx="25977" cy="507498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rgbClr val="6B6DC3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1" name="手繪多邊形: 圖案 350">
                <a:extLst>
                  <a:ext uri="{FF2B5EF4-FFF2-40B4-BE49-F238E27FC236}">
                    <a16:creationId xmlns:a16="http://schemas.microsoft.com/office/drawing/2014/main" id="{1CABC08C-9222-452A-B04E-49768118132D}"/>
                  </a:ext>
                </a:extLst>
              </p:cNvPr>
              <p:cNvSpPr/>
              <p:nvPr/>
            </p:nvSpPr>
            <p:spPr>
              <a:xfrm>
                <a:off x="8995332" y="3081525"/>
                <a:ext cx="839735" cy="839735"/>
              </a:xfrm>
              <a:custGeom>
                <a:avLst/>
                <a:gdLst>
                  <a:gd name="connsiteX0" fmla="*/ 300234 w 300234"/>
                  <a:gd name="connsiteY0" fmla="*/ 150117 h 300234"/>
                  <a:gd name="connsiteX1" fmla="*/ 150117 w 300234"/>
                  <a:gd name="connsiteY1" fmla="*/ 300234 h 300234"/>
                  <a:gd name="connsiteX2" fmla="*/ 0 w 300234"/>
                  <a:gd name="connsiteY2" fmla="*/ 150117 h 300234"/>
                  <a:gd name="connsiteX3" fmla="*/ 150117 w 300234"/>
                  <a:gd name="connsiteY3" fmla="*/ 0 h 300234"/>
                  <a:gd name="connsiteX4" fmla="*/ 300234 w 300234"/>
                  <a:gd name="connsiteY4" fmla="*/ 150117 h 3002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0234" h="300234">
                    <a:moveTo>
                      <a:pt x="300234" y="150117"/>
                    </a:moveTo>
                    <a:cubicBezTo>
                      <a:pt x="300234" y="233024"/>
                      <a:pt x="233024" y="300234"/>
                      <a:pt x="150117" y="300234"/>
                    </a:cubicBezTo>
                    <a:cubicBezTo>
                      <a:pt x="67210" y="300234"/>
                      <a:pt x="0" y="233024"/>
                      <a:pt x="0" y="150117"/>
                    </a:cubicBezTo>
                    <a:cubicBezTo>
                      <a:pt x="0" y="67210"/>
                      <a:pt x="67210" y="0"/>
                      <a:pt x="150117" y="0"/>
                    </a:cubicBezTo>
                    <a:cubicBezTo>
                      <a:pt x="233025" y="0"/>
                      <a:pt x="300234" y="67210"/>
                      <a:pt x="300234" y="150117"/>
                    </a:cubicBezTo>
                    <a:close/>
                  </a:path>
                </a:pathLst>
              </a:custGeom>
              <a:solidFill>
                <a:srgbClr val="D6D7EE"/>
              </a:solidFill>
              <a:ln w="9525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srgbClr val="000000"/>
                  </a:solidFill>
                </a:endParaRPr>
              </a:p>
              <a:p>
                <a:pPr algn="ctr"/>
                <a:r>
                  <a:rPr lang="en-US" altLang="zh-TW" sz="1200" dirty="0">
                    <a:solidFill>
                      <a:srgbClr val="000000"/>
                    </a:solidFill>
                  </a:rPr>
                  <a:t>[L0101_</a:t>
                </a:r>
              </a:p>
              <a:p>
                <a:pPr algn="ctr"/>
                <a:r>
                  <a:rPr lang="en-US" altLang="zh-TW" sz="1200" dirty="0">
                    <a:solidFill>
                      <a:srgbClr val="000000"/>
                    </a:solidFill>
                    <a:highlight>
                      <a:srgbClr val="B2E3B1"/>
                    </a:highlight>
                  </a:rPr>
                  <a:t>PI07</a:t>
                </a:r>
                <a:r>
                  <a:rPr lang="en-US" altLang="zh-TW" sz="1200" dirty="0">
                    <a:solidFill>
                      <a:srgbClr val="000000"/>
                    </a:solidFill>
                  </a:rPr>
                  <a:t>]</a:t>
                </a:r>
                <a:endParaRPr lang="zh-TW" altLang="en-US" sz="12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351" name="手繪多邊形: 圖案 350">
                <a:extLst>
                  <a:ext uri="{FF2B5EF4-FFF2-40B4-BE49-F238E27FC236}">
                    <a16:creationId xmlns:a16="http://schemas.microsoft.com/office/drawing/2014/main" id="{1CABC08C-9222-452A-B04E-4976811813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332" y="3081525"/>
                <a:ext cx="839735" cy="839735"/>
              </a:xfrm>
              <a:custGeom>
                <a:avLst/>
                <a:gdLst>
                  <a:gd name="connsiteX0" fmla="*/ 300234 w 300234"/>
                  <a:gd name="connsiteY0" fmla="*/ 150117 h 300234"/>
                  <a:gd name="connsiteX1" fmla="*/ 150117 w 300234"/>
                  <a:gd name="connsiteY1" fmla="*/ 300234 h 300234"/>
                  <a:gd name="connsiteX2" fmla="*/ 0 w 300234"/>
                  <a:gd name="connsiteY2" fmla="*/ 150117 h 300234"/>
                  <a:gd name="connsiteX3" fmla="*/ 150117 w 300234"/>
                  <a:gd name="connsiteY3" fmla="*/ 0 h 300234"/>
                  <a:gd name="connsiteX4" fmla="*/ 300234 w 300234"/>
                  <a:gd name="connsiteY4" fmla="*/ 150117 h 3002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0234" h="300234">
                    <a:moveTo>
                      <a:pt x="300234" y="150117"/>
                    </a:moveTo>
                    <a:cubicBezTo>
                      <a:pt x="300234" y="233024"/>
                      <a:pt x="233024" y="300234"/>
                      <a:pt x="150117" y="300234"/>
                    </a:cubicBezTo>
                    <a:cubicBezTo>
                      <a:pt x="67210" y="300234"/>
                      <a:pt x="0" y="233024"/>
                      <a:pt x="0" y="150117"/>
                    </a:cubicBezTo>
                    <a:cubicBezTo>
                      <a:pt x="0" y="67210"/>
                      <a:pt x="67210" y="0"/>
                      <a:pt x="150117" y="0"/>
                    </a:cubicBezTo>
                    <a:cubicBezTo>
                      <a:pt x="233025" y="0"/>
                      <a:pt x="300234" y="67210"/>
                      <a:pt x="300234" y="150117"/>
                    </a:cubicBezTo>
                    <a:close/>
                  </a:path>
                </a:pathLst>
              </a:custGeom>
              <a:blipFill>
                <a:blip r:embed="rId6"/>
                <a:stretch>
                  <a:fillRect/>
                </a:stretch>
              </a:blipFill>
              <a:ln w="9525" cap="flat">
                <a:noFill/>
                <a:prstDash val="solid"/>
                <a:miter/>
              </a:ln>
              <a:effectLst/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0" name="文字方塊 369">
                <a:extLst>
                  <a:ext uri="{FF2B5EF4-FFF2-40B4-BE49-F238E27FC236}">
                    <a16:creationId xmlns:a16="http://schemas.microsoft.com/office/drawing/2014/main" id="{A388BADC-B2F7-4A71-905B-D1563631604F}"/>
                  </a:ext>
                </a:extLst>
              </p:cNvPr>
              <p:cNvSpPr txBox="1"/>
              <p:nvPr/>
            </p:nvSpPr>
            <p:spPr>
              <a:xfrm rot="19444984">
                <a:off x="8118716" y="2330603"/>
                <a:ext cx="109445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TW" sz="14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𝐷𝐹</m:t>
                        </m:r>
                      </m:sub>
                    </m:sSub>
                  </m:oMath>
                </a14:m>
                <a:r>
                  <a:rPr lang="en-US" altLang="zh-TW" sz="1400" dirty="0">
                    <a:solidFill>
                      <a:srgbClr val="000000"/>
                    </a:solidFill>
                  </a:rPr>
                  <a:t> = 0.8</a:t>
                </a:r>
                <a:endParaRPr lang="zh-TW" altLang="en-US" sz="1400" dirty="0"/>
              </a:p>
            </p:txBody>
          </p:sp>
        </mc:Choice>
        <mc:Fallback xmlns="">
          <p:sp>
            <p:nvSpPr>
              <p:cNvPr id="370" name="文字方塊 369">
                <a:extLst>
                  <a:ext uri="{FF2B5EF4-FFF2-40B4-BE49-F238E27FC236}">
                    <a16:creationId xmlns:a16="http://schemas.microsoft.com/office/drawing/2014/main" id="{A388BADC-B2F7-4A71-905B-D156363160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444984">
                <a:off x="8118716" y="2330603"/>
                <a:ext cx="1094451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1" name="文字方塊 370">
                <a:extLst>
                  <a:ext uri="{FF2B5EF4-FFF2-40B4-BE49-F238E27FC236}">
                    <a16:creationId xmlns:a16="http://schemas.microsoft.com/office/drawing/2014/main" id="{DD717597-D2FF-4891-98F0-A2095F267F23}"/>
                  </a:ext>
                </a:extLst>
              </p:cNvPr>
              <p:cNvSpPr txBox="1"/>
              <p:nvPr/>
            </p:nvSpPr>
            <p:spPr>
              <a:xfrm rot="2178945">
                <a:off x="9827623" y="2326900"/>
                <a:ext cx="1058855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𝐷𝐶</m:t>
                        </m:r>
                      </m:sub>
                    </m:sSub>
                  </m:oMath>
                </a14:m>
                <a:r>
                  <a:rPr lang="en-US" altLang="zh-TW" sz="1400" dirty="0">
                    <a:solidFill>
                      <a:srgbClr val="000000"/>
                    </a:solidFill>
                  </a:rPr>
                  <a:t> = 0.6</a:t>
                </a:r>
                <a:endParaRPr lang="zh-TW" altLang="en-US" sz="1400" dirty="0"/>
              </a:p>
            </p:txBody>
          </p:sp>
        </mc:Choice>
        <mc:Fallback xmlns="">
          <p:sp>
            <p:nvSpPr>
              <p:cNvPr id="371" name="文字方塊 370">
                <a:extLst>
                  <a:ext uri="{FF2B5EF4-FFF2-40B4-BE49-F238E27FC236}">
                    <a16:creationId xmlns:a16="http://schemas.microsoft.com/office/drawing/2014/main" id="{DD717597-D2FF-4891-98F0-A2095F267F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78945">
                <a:off x="9827623" y="2326900"/>
                <a:ext cx="1058855" cy="307777"/>
              </a:xfrm>
              <a:prstGeom prst="rect">
                <a:avLst/>
              </a:prstGeom>
              <a:blipFill>
                <a:blip r:embed="rId8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3" name="手繪多邊形: 圖案 372">
                <a:extLst>
                  <a:ext uri="{FF2B5EF4-FFF2-40B4-BE49-F238E27FC236}">
                    <a16:creationId xmlns:a16="http://schemas.microsoft.com/office/drawing/2014/main" id="{FBEFCC65-0B3A-466A-8A50-4F8E9C1480F6}"/>
                  </a:ext>
                </a:extLst>
              </p:cNvPr>
              <p:cNvSpPr/>
              <p:nvPr/>
            </p:nvSpPr>
            <p:spPr>
              <a:xfrm>
                <a:off x="10399592" y="3049994"/>
                <a:ext cx="908748" cy="908748"/>
              </a:xfrm>
              <a:custGeom>
                <a:avLst/>
                <a:gdLst>
                  <a:gd name="connsiteX0" fmla="*/ 300234 w 300234"/>
                  <a:gd name="connsiteY0" fmla="*/ 150117 h 300234"/>
                  <a:gd name="connsiteX1" fmla="*/ 150117 w 300234"/>
                  <a:gd name="connsiteY1" fmla="*/ 300234 h 300234"/>
                  <a:gd name="connsiteX2" fmla="*/ 0 w 300234"/>
                  <a:gd name="connsiteY2" fmla="*/ 150117 h 300234"/>
                  <a:gd name="connsiteX3" fmla="*/ 150117 w 300234"/>
                  <a:gd name="connsiteY3" fmla="*/ 0 h 300234"/>
                  <a:gd name="connsiteX4" fmla="*/ 300234 w 300234"/>
                  <a:gd name="connsiteY4" fmla="*/ 150117 h 3002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0234" h="300234">
                    <a:moveTo>
                      <a:pt x="300234" y="150117"/>
                    </a:moveTo>
                    <a:cubicBezTo>
                      <a:pt x="300234" y="233024"/>
                      <a:pt x="233024" y="300234"/>
                      <a:pt x="150117" y="300234"/>
                    </a:cubicBezTo>
                    <a:cubicBezTo>
                      <a:pt x="67210" y="300234"/>
                      <a:pt x="0" y="233024"/>
                      <a:pt x="0" y="150117"/>
                    </a:cubicBezTo>
                    <a:cubicBezTo>
                      <a:pt x="0" y="67210"/>
                      <a:pt x="67210" y="0"/>
                      <a:pt x="150117" y="0"/>
                    </a:cubicBezTo>
                    <a:cubicBezTo>
                      <a:pt x="233025" y="0"/>
                      <a:pt x="300234" y="67210"/>
                      <a:pt x="300234" y="150117"/>
                    </a:cubicBezTo>
                    <a:close/>
                  </a:path>
                </a:pathLst>
              </a:custGeom>
              <a:solidFill>
                <a:srgbClr val="D6D7EE"/>
              </a:solidFill>
              <a:ln w="9525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,3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srgbClr val="000000"/>
                  </a:solidFill>
                </a:endParaRPr>
              </a:p>
              <a:p>
                <a:pPr algn="ctr"/>
                <a:r>
                  <a:rPr lang="en-US" altLang="zh-TW" sz="1200" dirty="0">
                    <a:solidFill>
                      <a:srgbClr val="000000"/>
                    </a:solidFill>
                  </a:rPr>
                  <a:t>[L0101_</a:t>
                </a:r>
              </a:p>
              <a:p>
                <a:pPr algn="ctr"/>
                <a:r>
                  <a:rPr lang="en-US" altLang="zh-TW" sz="1200" dirty="0">
                    <a:solidFill>
                      <a:srgbClr val="000000"/>
                    </a:solidFill>
                    <a:highlight>
                      <a:srgbClr val="A6D9FF"/>
                    </a:highlight>
                  </a:rPr>
                  <a:t>DC06</a:t>
                </a:r>
                <a:r>
                  <a:rPr lang="en-US" altLang="zh-TW" sz="1200" dirty="0">
                    <a:solidFill>
                      <a:srgbClr val="000000"/>
                    </a:solidFill>
                  </a:rPr>
                  <a:t>]</a:t>
                </a:r>
                <a:endParaRPr lang="zh-TW" altLang="en-US" sz="12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373" name="手繪多邊形: 圖案 372">
                <a:extLst>
                  <a:ext uri="{FF2B5EF4-FFF2-40B4-BE49-F238E27FC236}">
                    <a16:creationId xmlns:a16="http://schemas.microsoft.com/office/drawing/2014/main" id="{FBEFCC65-0B3A-466A-8A50-4F8E9C1480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9592" y="3049994"/>
                <a:ext cx="908748" cy="908748"/>
              </a:xfrm>
              <a:custGeom>
                <a:avLst/>
                <a:gdLst>
                  <a:gd name="connsiteX0" fmla="*/ 300234 w 300234"/>
                  <a:gd name="connsiteY0" fmla="*/ 150117 h 300234"/>
                  <a:gd name="connsiteX1" fmla="*/ 150117 w 300234"/>
                  <a:gd name="connsiteY1" fmla="*/ 300234 h 300234"/>
                  <a:gd name="connsiteX2" fmla="*/ 0 w 300234"/>
                  <a:gd name="connsiteY2" fmla="*/ 150117 h 300234"/>
                  <a:gd name="connsiteX3" fmla="*/ 150117 w 300234"/>
                  <a:gd name="connsiteY3" fmla="*/ 0 h 300234"/>
                  <a:gd name="connsiteX4" fmla="*/ 300234 w 300234"/>
                  <a:gd name="connsiteY4" fmla="*/ 150117 h 3002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0234" h="300234">
                    <a:moveTo>
                      <a:pt x="300234" y="150117"/>
                    </a:moveTo>
                    <a:cubicBezTo>
                      <a:pt x="300234" y="233024"/>
                      <a:pt x="233024" y="300234"/>
                      <a:pt x="150117" y="300234"/>
                    </a:cubicBezTo>
                    <a:cubicBezTo>
                      <a:pt x="67210" y="300234"/>
                      <a:pt x="0" y="233024"/>
                      <a:pt x="0" y="150117"/>
                    </a:cubicBezTo>
                    <a:cubicBezTo>
                      <a:pt x="0" y="67210"/>
                      <a:pt x="67210" y="0"/>
                      <a:pt x="150117" y="0"/>
                    </a:cubicBezTo>
                    <a:cubicBezTo>
                      <a:pt x="233025" y="0"/>
                      <a:pt x="300234" y="67210"/>
                      <a:pt x="300234" y="150117"/>
                    </a:cubicBezTo>
                    <a:close/>
                  </a:path>
                </a:pathLst>
              </a:custGeom>
              <a:blipFill>
                <a:blip r:embed="rId9"/>
                <a:stretch>
                  <a:fillRect/>
                </a:stretch>
              </a:blipFill>
              <a:ln w="9525" cap="flat">
                <a:noFill/>
                <a:prstDash val="solid"/>
                <a:miter/>
              </a:ln>
              <a:effectLst/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6" name="直線單箭頭接點 375">
            <a:extLst>
              <a:ext uri="{FF2B5EF4-FFF2-40B4-BE49-F238E27FC236}">
                <a16:creationId xmlns:a16="http://schemas.microsoft.com/office/drawing/2014/main" id="{3403760D-9D29-49B0-9A58-2DC22AB73CC6}"/>
              </a:ext>
            </a:extLst>
          </p:cNvPr>
          <p:cNvCxnSpPr>
            <a:cxnSpLocks/>
            <a:stCxn id="373" idx="3"/>
            <a:endCxn id="29" idx="1"/>
          </p:cNvCxnSpPr>
          <p:nvPr/>
        </p:nvCxnSpPr>
        <p:spPr bwMode="auto">
          <a:xfrm flipH="1" flipV="1">
            <a:off x="9525217" y="2071899"/>
            <a:ext cx="1328749" cy="978095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chemeClr val="accent6">
                <a:lumMod val="50000"/>
              </a:schemeClr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389" name="直線單箭頭接點 388">
            <a:extLst>
              <a:ext uri="{FF2B5EF4-FFF2-40B4-BE49-F238E27FC236}">
                <a16:creationId xmlns:a16="http://schemas.microsoft.com/office/drawing/2014/main" id="{1C46BE13-F065-4DF9-9578-5CD6907AC62B}"/>
              </a:ext>
            </a:extLst>
          </p:cNvPr>
          <p:cNvCxnSpPr>
            <a:cxnSpLocks/>
            <a:stCxn id="353" idx="0"/>
            <a:endCxn id="373" idx="1"/>
          </p:cNvCxnSpPr>
          <p:nvPr/>
        </p:nvCxnSpPr>
        <p:spPr bwMode="auto">
          <a:xfrm flipV="1">
            <a:off x="9930975" y="3958742"/>
            <a:ext cx="922991" cy="1011769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rgbClr val="6B6DC3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2" name="文字方塊 391">
                <a:extLst>
                  <a:ext uri="{FF2B5EF4-FFF2-40B4-BE49-F238E27FC236}">
                    <a16:creationId xmlns:a16="http://schemas.microsoft.com/office/drawing/2014/main" id="{D9BBB597-0BDD-4C07-B00A-00B720124FDF}"/>
                  </a:ext>
                </a:extLst>
              </p:cNvPr>
              <p:cNvSpPr txBox="1"/>
              <p:nvPr/>
            </p:nvSpPr>
            <p:spPr>
              <a:xfrm rot="5706981">
                <a:off x="9171303" y="2470799"/>
                <a:ext cx="91192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𝑃𝐼</m:t>
                        </m:r>
                      </m:sub>
                    </m:sSub>
                  </m:oMath>
                </a14:m>
                <a:r>
                  <a:rPr lang="en-US" altLang="zh-TW" sz="1400" dirty="0">
                    <a:solidFill>
                      <a:srgbClr val="000000"/>
                    </a:solidFill>
                  </a:rPr>
                  <a:t> = 0.7</a:t>
                </a:r>
                <a:endParaRPr lang="zh-TW" altLang="en-US" sz="1400" dirty="0"/>
              </a:p>
            </p:txBody>
          </p:sp>
        </mc:Choice>
        <mc:Fallback xmlns="">
          <p:sp>
            <p:nvSpPr>
              <p:cNvPr id="392" name="文字方塊 391">
                <a:extLst>
                  <a:ext uri="{FF2B5EF4-FFF2-40B4-BE49-F238E27FC236}">
                    <a16:creationId xmlns:a16="http://schemas.microsoft.com/office/drawing/2014/main" id="{D9BBB597-0BDD-4C07-B00A-00B720124F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706981">
                <a:off x="9171303" y="2470799"/>
                <a:ext cx="911922" cy="307777"/>
              </a:xfrm>
              <a:prstGeom prst="rect">
                <a:avLst/>
              </a:prstGeom>
              <a:blipFill>
                <a:blip r:embed="rId10"/>
                <a:stretch>
                  <a:fillRect l="-1538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6" name="接點: 肘形 415">
            <a:extLst>
              <a:ext uri="{FF2B5EF4-FFF2-40B4-BE49-F238E27FC236}">
                <a16:creationId xmlns:a16="http://schemas.microsoft.com/office/drawing/2014/main" id="{47EA36CD-CD01-4CB8-B4D4-6DA1252015D6}"/>
              </a:ext>
            </a:extLst>
          </p:cNvPr>
          <p:cNvCxnSpPr>
            <a:cxnSpLocks/>
            <a:stCxn id="66" idx="2"/>
            <a:endCxn id="426" idx="2"/>
          </p:cNvCxnSpPr>
          <p:nvPr/>
        </p:nvCxnSpPr>
        <p:spPr bwMode="auto">
          <a:xfrm rot="16200000" flipH="1">
            <a:off x="6866389" y="2989430"/>
            <a:ext cx="217770" cy="4827896"/>
          </a:xfrm>
          <a:prstGeom prst="bentConnector3">
            <a:avLst>
              <a:gd name="adj1" fmla="val 204973"/>
            </a:avLst>
          </a:prstGeom>
          <a:solidFill>
            <a:schemeClr val="accent1"/>
          </a:solidFill>
          <a:ln w="15875" cap="flat" cmpd="sng" algn="ctr">
            <a:solidFill>
              <a:srgbClr val="6B6DC3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488" name="群組 487">
            <a:extLst>
              <a:ext uri="{FF2B5EF4-FFF2-40B4-BE49-F238E27FC236}">
                <a16:creationId xmlns:a16="http://schemas.microsoft.com/office/drawing/2014/main" id="{0540026F-769D-49C9-A4DC-45EB585FEE9C}"/>
              </a:ext>
            </a:extLst>
          </p:cNvPr>
          <p:cNvGrpSpPr/>
          <p:nvPr/>
        </p:nvGrpSpPr>
        <p:grpSpPr>
          <a:xfrm>
            <a:off x="8046624" y="4428758"/>
            <a:ext cx="2685196" cy="1083505"/>
            <a:chOff x="8308371" y="4682931"/>
            <a:chExt cx="2220351" cy="89593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3" name="手繪多邊形: 圖案 352">
                  <a:extLst>
                    <a:ext uri="{FF2B5EF4-FFF2-40B4-BE49-F238E27FC236}">
                      <a16:creationId xmlns:a16="http://schemas.microsoft.com/office/drawing/2014/main" id="{69E045C7-029F-41DC-822E-B0DCCE588C81}"/>
                    </a:ext>
                  </a:extLst>
                </p:cNvPr>
                <p:cNvSpPr/>
                <p:nvPr/>
              </p:nvSpPr>
              <p:spPr>
                <a:xfrm>
                  <a:off x="8970579" y="4682931"/>
                  <a:ext cx="895935" cy="895935"/>
                </a:xfrm>
                <a:custGeom>
                  <a:avLst/>
                  <a:gdLst>
                    <a:gd name="connsiteX0" fmla="*/ 300234 w 300234"/>
                    <a:gd name="connsiteY0" fmla="*/ 150117 h 300234"/>
                    <a:gd name="connsiteX1" fmla="*/ 150117 w 300234"/>
                    <a:gd name="connsiteY1" fmla="*/ 300234 h 300234"/>
                    <a:gd name="connsiteX2" fmla="*/ 0 w 300234"/>
                    <a:gd name="connsiteY2" fmla="*/ 150117 h 300234"/>
                    <a:gd name="connsiteX3" fmla="*/ 150117 w 300234"/>
                    <a:gd name="connsiteY3" fmla="*/ 0 h 300234"/>
                    <a:gd name="connsiteX4" fmla="*/ 300234 w 300234"/>
                    <a:gd name="connsiteY4" fmla="*/ 150117 h 3002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0234" h="300234">
                      <a:moveTo>
                        <a:pt x="300234" y="150117"/>
                      </a:moveTo>
                      <a:cubicBezTo>
                        <a:pt x="300234" y="233024"/>
                        <a:pt x="233024" y="300234"/>
                        <a:pt x="150117" y="300234"/>
                      </a:cubicBezTo>
                      <a:cubicBezTo>
                        <a:pt x="67210" y="300234"/>
                        <a:pt x="0" y="233024"/>
                        <a:pt x="0" y="150117"/>
                      </a:cubicBezTo>
                      <a:cubicBezTo>
                        <a:pt x="0" y="67210"/>
                        <a:pt x="67210" y="0"/>
                        <a:pt x="150117" y="0"/>
                      </a:cubicBezTo>
                      <a:cubicBezTo>
                        <a:pt x="233025" y="0"/>
                        <a:pt x="300234" y="67210"/>
                        <a:pt x="300234" y="150117"/>
                      </a:cubicBezTo>
                      <a:close/>
                    </a:path>
                  </a:pathLst>
                </a:custGeom>
                <a:solidFill>
                  <a:srgbClr val="D6D7EE"/>
                </a:solidFill>
                <a:ln w="19050" cap="flat">
                  <a:solidFill>
                    <a:srgbClr val="6B6DC3"/>
                  </a:solidFill>
                  <a:prstDash val="solid"/>
                  <a:miter/>
                </a:ln>
                <a:effectLst/>
              </p:spPr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TW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TW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</m:oMath>
                    </m:oMathPara>
                  </a14:m>
                  <a:endParaRPr lang="en-US" altLang="zh-TW" dirty="0">
                    <a:solidFill>
                      <a:srgbClr val="000000"/>
                    </a:solidFill>
                  </a:endParaRPr>
                </a:p>
                <a:p>
                  <a:pPr algn="ctr"/>
                  <a:r>
                    <a:rPr lang="en-US" altLang="zh-TW" sz="1200" dirty="0">
                      <a:solidFill>
                        <a:srgbClr val="000000"/>
                      </a:solidFill>
                    </a:rPr>
                    <a:t>[L0101_</a:t>
                  </a:r>
                  <a:r>
                    <a:rPr lang="en-US" altLang="zh-TW" sz="1200" dirty="0">
                      <a:solidFill>
                        <a:srgbClr val="000000"/>
                      </a:solidFill>
                      <a:highlight>
                        <a:srgbClr val="F0D0C2"/>
                      </a:highlight>
                    </a:rPr>
                    <a:t>DF08</a:t>
                  </a:r>
                  <a:r>
                    <a:rPr lang="en-US" altLang="zh-TW" sz="1200" dirty="0">
                      <a:solidFill>
                        <a:srgbClr val="000000"/>
                      </a:solidFill>
                    </a:rPr>
                    <a:t>_</a:t>
                  </a:r>
                  <a:r>
                    <a:rPr lang="en-US" altLang="zh-TW" sz="1200" dirty="0">
                      <a:solidFill>
                        <a:srgbClr val="000000"/>
                      </a:solidFill>
                      <a:highlight>
                        <a:srgbClr val="B2E3B1"/>
                      </a:highlight>
                    </a:rPr>
                    <a:t>PI07</a:t>
                  </a:r>
                  <a:r>
                    <a:rPr lang="en-US" altLang="zh-TW" sz="1200" dirty="0">
                      <a:solidFill>
                        <a:srgbClr val="000000"/>
                      </a:solidFill>
                    </a:rPr>
                    <a:t>_</a:t>
                  </a:r>
                  <a:r>
                    <a:rPr lang="en-US" altLang="zh-TW" sz="1200" dirty="0">
                      <a:solidFill>
                        <a:srgbClr val="000000"/>
                      </a:solidFill>
                      <a:highlight>
                        <a:srgbClr val="A6D9FF"/>
                      </a:highlight>
                    </a:rPr>
                    <a:t>DC06</a:t>
                  </a:r>
                  <a:r>
                    <a:rPr lang="en-US" altLang="zh-TW" sz="1200" dirty="0">
                      <a:solidFill>
                        <a:srgbClr val="000000"/>
                      </a:solidFill>
                    </a:rPr>
                    <a:t>]</a:t>
                  </a:r>
                  <a:endParaRPr lang="zh-TW" altLang="en-US" sz="1200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353" name="手繪多邊形: 圖案 352">
                  <a:extLst>
                    <a:ext uri="{FF2B5EF4-FFF2-40B4-BE49-F238E27FC236}">
                      <a16:creationId xmlns:a16="http://schemas.microsoft.com/office/drawing/2014/main" id="{69E045C7-029F-41DC-822E-B0DCCE588C8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70579" y="4682931"/>
                  <a:ext cx="895935" cy="895935"/>
                </a:xfrm>
                <a:custGeom>
                  <a:avLst/>
                  <a:gdLst>
                    <a:gd name="connsiteX0" fmla="*/ 300234 w 300234"/>
                    <a:gd name="connsiteY0" fmla="*/ 150117 h 300234"/>
                    <a:gd name="connsiteX1" fmla="*/ 150117 w 300234"/>
                    <a:gd name="connsiteY1" fmla="*/ 300234 h 300234"/>
                    <a:gd name="connsiteX2" fmla="*/ 0 w 300234"/>
                    <a:gd name="connsiteY2" fmla="*/ 150117 h 300234"/>
                    <a:gd name="connsiteX3" fmla="*/ 150117 w 300234"/>
                    <a:gd name="connsiteY3" fmla="*/ 0 h 300234"/>
                    <a:gd name="connsiteX4" fmla="*/ 300234 w 300234"/>
                    <a:gd name="connsiteY4" fmla="*/ 150117 h 3002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0234" h="300234">
                      <a:moveTo>
                        <a:pt x="300234" y="150117"/>
                      </a:moveTo>
                      <a:cubicBezTo>
                        <a:pt x="300234" y="233024"/>
                        <a:pt x="233024" y="300234"/>
                        <a:pt x="150117" y="300234"/>
                      </a:cubicBezTo>
                      <a:cubicBezTo>
                        <a:pt x="67210" y="300234"/>
                        <a:pt x="0" y="233024"/>
                        <a:pt x="0" y="150117"/>
                      </a:cubicBezTo>
                      <a:cubicBezTo>
                        <a:pt x="0" y="67210"/>
                        <a:pt x="67210" y="0"/>
                        <a:pt x="150117" y="0"/>
                      </a:cubicBezTo>
                      <a:cubicBezTo>
                        <a:pt x="233025" y="0"/>
                        <a:pt x="300234" y="67210"/>
                        <a:pt x="300234" y="150117"/>
                      </a:cubicBezTo>
                      <a:close/>
                    </a:path>
                  </a:pathLst>
                </a:custGeom>
                <a:blipFill>
                  <a:blip r:embed="rId11"/>
                  <a:stretch>
                    <a:fillRect/>
                  </a:stretch>
                </a:blipFill>
                <a:ln w="19050" cap="flat">
                  <a:solidFill>
                    <a:srgbClr val="6B6DC3"/>
                  </a:solidFill>
                  <a:prstDash val="solid"/>
                  <a:miter/>
                </a:ln>
                <a:effectLst/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6" name="文字方塊 425">
              <a:extLst>
                <a:ext uri="{FF2B5EF4-FFF2-40B4-BE49-F238E27FC236}">
                  <a16:creationId xmlns:a16="http://schemas.microsoft.com/office/drawing/2014/main" id="{5C7CF863-7A38-4733-BEB4-239B6D560DDD}"/>
                </a:ext>
              </a:extLst>
            </p:cNvPr>
            <p:cNvSpPr txBox="1"/>
            <p:nvPr/>
          </p:nvSpPr>
          <p:spPr>
            <a:xfrm>
              <a:off x="8308371" y="5317256"/>
              <a:ext cx="2220351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endParaRPr lang="zh-TW" altLang="en-US" sz="1100" i="1" dirty="0">
                <a:solidFill>
                  <a:srgbClr val="000000"/>
                </a:solidFill>
              </a:endParaRPr>
            </a:p>
          </p:txBody>
        </p:sp>
      </p:grpSp>
      <p:cxnSp>
        <p:nvCxnSpPr>
          <p:cNvPr id="508" name="直線接點 507">
            <a:extLst>
              <a:ext uri="{FF2B5EF4-FFF2-40B4-BE49-F238E27FC236}">
                <a16:creationId xmlns:a16="http://schemas.microsoft.com/office/drawing/2014/main" id="{CFCF8159-0871-4BC2-A6CA-F857FE18A2BE}"/>
              </a:ext>
            </a:extLst>
          </p:cNvPr>
          <p:cNvCxnSpPr>
            <a:cxnSpLocks/>
            <a:stCxn id="315" idx="2"/>
            <a:endCxn id="66" idx="0"/>
          </p:cNvCxnSpPr>
          <p:nvPr/>
        </p:nvCxnSpPr>
        <p:spPr bwMode="auto">
          <a:xfrm>
            <a:off x="4561325" y="4306596"/>
            <a:ext cx="1" cy="649343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rgbClr val="6B6DC3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087601812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382242</TotalTime>
  <Words>376</Words>
  <Application>Microsoft Office PowerPoint</Application>
  <PresentationFormat>寬螢幕</PresentationFormat>
  <Paragraphs>129</Paragraphs>
  <Slides>2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Arial</vt:lpstr>
      <vt:lpstr>Calibri</vt:lpstr>
      <vt:lpstr>Cambria Math</vt:lpstr>
      <vt:lpstr>Symbol</vt:lpstr>
      <vt:lpstr>Times New Roman</vt:lpstr>
      <vt:lpstr>佈景主題1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Knowledge Graph + RAG</dc:title>
  <dc:creator>莉庭 魯</dc:creator>
  <cp:lastModifiedBy>莉庭 魯</cp:lastModifiedBy>
  <cp:revision>2254</cp:revision>
  <dcterms:created xsi:type="dcterms:W3CDTF">2024-12-03T09:08:39Z</dcterms:created>
  <dcterms:modified xsi:type="dcterms:W3CDTF">2026-03-11T02:29:26Z</dcterms:modified>
</cp:coreProperties>
</file>